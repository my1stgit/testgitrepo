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notesMasterIdLst>
    <p:notesMasterId r:id="rId13"/>
  </p:notesMasterIdLst>
  <p:handoutMasterIdLst>
    <p:handoutMasterId r:id="rId14"/>
  </p:handout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KPdUaB0rVJPPN+LAaO9U5w==" hashData="HuQ228rFlBmu1PnhP+n0FqIja0Tl+LPFyhc/6w+wiiF6XVCCtF2+RFVp4Q8r4+4Z3JrlckbD0NWJ+IBrvsKLKQ=="/>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186" autoAdjust="0"/>
  </p:normalViewPr>
  <p:slideViewPr>
    <p:cSldViewPr snapToGrid="0">
      <p:cViewPr varScale="1">
        <p:scale>
          <a:sx n="87" d="100"/>
          <a:sy n="87" d="100"/>
        </p:scale>
        <p:origin x="70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E881FF-A288-535A-0018-DB1E29375A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F4476C5-BFA3-DF77-129C-5B704306EB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C174248-FC57-4C57-9FD2-81C0F324F48F}" type="datetime1">
              <a:rPr lang="en-US" smtClean="0"/>
              <a:t>3/31/2026</a:t>
            </a:fld>
            <a:endParaRPr lang="en-US"/>
          </a:p>
        </p:txBody>
      </p:sp>
      <p:sp>
        <p:nvSpPr>
          <p:cNvPr id="4" name="Footer Placeholder 3">
            <a:extLst>
              <a:ext uri="{FF2B5EF4-FFF2-40B4-BE49-F238E27FC236}">
                <a16:creationId xmlns:a16="http://schemas.microsoft.com/office/drawing/2014/main" id="{D7752257-235A-761C-EAA2-28EDD99226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Presented by Upendra Rimal</a:t>
            </a:r>
          </a:p>
        </p:txBody>
      </p:sp>
      <p:sp>
        <p:nvSpPr>
          <p:cNvPr id="5" name="Slide Number Placeholder 4">
            <a:extLst>
              <a:ext uri="{FF2B5EF4-FFF2-40B4-BE49-F238E27FC236}">
                <a16:creationId xmlns:a16="http://schemas.microsoft.com/office/drawing/2014/main" id="{0EDAD8CD-BFE5-FD78-5DE7-7BD2776650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F5FF9D-7AD8-41F4-BE2C-D90817D32A9F}" type="slidenum">
              <a:rPr lang="en-US" smtClean="0"/>
              <a:t>‹#›</a:t>
            </a:fld>
            <a:endParaRPr lang="en-US"/>
          </a:p>
        </p:txBody>
      </p:sp>
    </p:spTree>
    <p:extLst>
      <p:ext uri="{BB962C8B-B14F-4D97-AF65-F5344CB8AC3E}">
        <p14:creationId xmlns:p14="http://schemas.microsoft.com/office/powerpoint/2010/main" val="223320394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1952DF-C63B-41B5-AE86-C4B0153AC3B9}" type="datetime1">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Presented by Upendra Rimal</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0E78DC-A039-4B14-8369-B07DB53CCF7B}" type="slidenum">
              <a:rPr lang="en-US" smtClean="0"/>
              <a:t>‹#›</a:t>
            </a:fld>
            <a:endParaRPr lang="en-US"/>
          </a:p>
        </p:txBody>
      </p:sp>
    </p:spTree>
    <p:extLst>
      <p:ext uri="{BB962C8B-B14F-4D97-AF65-F5344CB8AC3E}">
        <p14:creationId xmlns:p14="http://schemas.microsoft.com/office/powerpoint/2010/main" val="3634931399"/>
      </p:ext>
    </p:extLst>
  </p:cSld>
  <p:clrMap bg1="lt1" tx1="dk1" bg2="lt2" tx2="dk2" accent1="accent1" accent2="accent2" accent3="accent3" accent4="accent4" accent5="accent5" accent6="accent6" hlink="hlink" folHlink="folHlink"/>
  <p:hf sldNum="0"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'Thank you for inviting me into your home.' COVER: 'Today isn't a sales pitch; it's an architectural review of your financial life.' CONCLUDE: 'By the end, you will have a clear blueprint for your family's future.'</a:t>
            </a:r>
          </a:p>
        </p:txBody>
      </p:sp>
    </p:spTree>
    <p:extLst>
      <p:ext uri="{BB962C8B-B14F-4D97-AF65-F5344CB8AC3E}">
        <p14:creationId xmlns:p14="http://schemas.microsoft.com/office/powerpoint/2010/main" val="75469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'Let's keep this simple.' COVER: 'Most people spend more time planning a 1-week vacation than a 30-year retirement.' CONCLUDE: 'I want to help you build a strategy that works as hard for you as you work for your money.'</a:t>
            </a:r>
          </a:p>
        </p:txBody>
      </p:sp>
    </p:spTree>
    <p:extLst>
      <p:ext uri="{BB962C8B-B14F-4D97-AF65-F5344CB8AC3E}">
        <p14:creationId xmlns:p14="http://schemas.microsoft.com/office/powerpoint/2010/main" val="1385350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'Here is how we will spend our time.' COVER: 'We will look at the risks, the solution, and the next steps.' CONCLUDE: 'Does this plan cover what you were hoping to discuss?'</a:t>
            </a:r>
          </a:p>
        </p:txBody>
      </p:sp>
    </p:spTree>
    <p:extLst>
      <p:ext uri="{BB962C8B-B14F-4D97-AF65-F5344CB8AC3E}">
        <p14:creationId xmlns:p14="http://schemas.microsoft.com/office/powerpoint/2010/main" val="3459210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'Why are we even here?' COVER: 'Taxes, Inflation, and Market Crashes are eating your savings.' CONCLUDE: 'If we don't solve these three problems, you're running up a down-escalator.'</a:t>
            </a:r>
          </a:p>
        </p:txBody>
      </p:sp>
    </p:spTree>
    <p:extLst>
      <p:ext uri="{BB962C8B-B14F-4D97-AF65-F5344CB8AC3E}">
        <p14:creationId xmlns:p14="http://schemas.microsoft.com/office/powerpoint/2010/main" val="2488473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'Who is behind this?' COVER: 'WFG provides the education, and Transamerica provides the multi-billion dollar muscle.' CONCLUDE: 'You are partnering with a giant that has stood the test of time.'</a:t>
            </a:r>
          </a:p>
        </p:txBody>
      </p:sp>
    </p:spTree>
    <p:extLst>
      <p:ext uri="{BB962C8B-B14F-4D97-AF65-F5344CB8AC3E}">
        <p14:creationId xmlns:p14="http://schemas.microsoft.com/office/powerpoint/2010/main" val="387603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'This is the most powerful tool in our kit.' COVER: 'With an IUL, Zero is your Hero. When the market drops, you stay flat. When it goes up, you go up.' CONCLUDE: 'It’s a shield and a sword for your money.'</a:t>
            </a:r>
          </a:p>
        </p:txBody>
      </p:sp>
    </p:spTree>
    <p:extLst>
      <p:ext uri="{BB962C8B-B14F-4D97-AF65-F5344CB8AC3E}">
        <p14:creationId xmlns:p14="http://schemas.microsoft.com/office/powerpoint/2010/main" val="1280544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'Most people think life insurance is only for the end.' COVER: 'Living Benefits mean if you get sick, the policy pays YOU so you can focus on recovery.' CONCLUDE: 'It’s a living, breathing safety net.'</a:t>
            </a:r>
          </a:p>
        </p:txBody>
      </p:sp>
    </p:spTree>
    <p:extLst>
      <p:ext uri="{BB962C8B-B14F-4D97-AF65-F5344CB8AC3E}">
        <p14:creationId xmlns:p14="http://schemas.microsoft.com/office/powerpoint/2010/main" val="2906746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'This is about the next 100 years, not just the next 10.' COVER: 'By starting a child's policy now, you lock in their health and give them a massive head start.' CONCLUDE: 'Give your children the advantage you wish you had.'</a:t>
            </a:r>
          </a:p>
        </p:txBody>
      </p:sp>
    </p:spTree>
    <p:extLst>
      <p:ext uri="{BB962C8B-B14F-4D97-AF65-F5344CB8AC3E}">
        <p14:creationId xmlns:p14="http://schemas.microsoft.com/office/powerpoint/2010/main" val="3084320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'It's natural to be cautious.' COVER: 'We address safety, accessibility, and cost.' CONCLUDE: 'If you had a machine in your basement that spit out money, would you insure it? YOU are that machine.'</a:t>
            </a:r>
          </a:p>
        </p:txBody>
      </p:sp>
    </p:spTree>
    <p:extLst>
      <p:ext uri="{BB962C8B-B14F-4D97-AF65-F5344CB8AC3E}">
        <p14:creationId xmlns:p14="http://schemas.microsoft.com/office/powerpoint/2010/main" val="40415762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'What if you decide to wait?' COVER: 'A step back today is a massive loss in time and money.' CONCLUDE: 'You are the youngest and healthiest you will ever be right now. Let's act before life makes the decision for you.'</a:t>
            </a:r>
          </a:p>
        </p:txBody>
      </p:sp>
    </p:spTree>
    <p:extLst>
      <p:ext uri="{BB962C8B-B14F-4D97-AF65-F5344CB8AC3E}">
        <p14:creationId xmlns:p14="http://schemas.microsoft.com/office/powerpoint/2010/main" val="39856793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SPEED SCRIPT: </a:t>
            </a:r>
            <a:r>
              <a:rPr lang="en-US" sz="900" b="0" i="0" kern="1200" dirty="0">
                <a:solidFill>
                  <a:schemeClr val="tx1"/>
                </a:solidFill>
                <a:effectLst/>
                <a:latin typeface="+mn-lt"/>
                <a:ea typeface="+mn-ea"/>
                <a:cs typeface="+mn-cs"/>
              </a:rPr>
              <a:t>Every family has a dream of being free. This plan is the map that shows us exactly how to get there. Today, we have the dream and the map in one place. Your family's safety is our </a:t>
            </a:r>
            <a:r>
              <a:rPr lang="en-US" sz="900" b="1" i="0" kern="1200" dirty="0">
                <a:solidFill>
                  <a:schemeClr val="tx1"/>
                </a:solidFill>
                <a:effectLst/>
                <a:latin typeface="+mn-lt"/>
                <a:ea typeface="+mn-ea"/>
                <a:cs typeface="+mn-cs"/>
              </a:rPr>
              <a:t>Goal</a:t>
            </a:r>
            <a:r>
              <a:rPr lang="en-US" sz="900" b="0" i="0" kern="1200" dirty="0">
                <a:solidFill>
                  <a:schemeClr val="tx1"/>
                </a:solidFill>
                <a:effectLst/>
                <a:latin typeface="+mn-lt"/>
                <a:ea typeface="+mn-ea"/>
                <a:cs typeface="+mn-cs"/>
              </a:rPr>
              <a:t>, and this plan is our </a:t>
            </a:r>
            <a:r>
              <a:rPr lang="en-US" sz="900" b="1" i="0" kern="1200" dirty="0">
                <a:solidFill>
                  <a:schemeClr val="tx1"/>
                </a:solidFill>
                <a:effectLst/>
                <a:latin typeface="+mn-lt"/>
                <a:ea typeface="+mn-ea"/>
                <a:cs typeface="+mn-cs"/>
              </a:rPr>
              <a:t>Map</a:t>
            </a:r>
            <a:r>
              <a:rPr lang="en-US" sz="900" b="0" i="0" kern="1200" dirty="0">
                <a:solidFill>
                  <a:schemeClr val="tx1"/>
                </a:solidFill>
                <a:effectLst/>
                <a:latin typeface="+mn-lt"/>
                <a:ea typeface="+mn-ea"/>
                <a:cs typeface="+mn-cs"/>
              </a:rPr>
              <a:t>. We have everything we need today. Let's start building your family’s future together right now."</a:t>
            </a:r>
            <a:endParaRPr lang="en-US" dirty="0"/>
          </a:p>
        </p:txBody>
      </p:sp>
    </p:spTree>
    <p:extLst>
      <p:ext uri="{BB962C8B-B14F-4D97-AF65-F5344CB8AC3E}">
        <p14:creationId xmlns:p14="http://schemas.microsoft.com/office/powerpoint/2010/main" val="3638837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E0F756-6699-4358-9A39-0F9E5D90A2CF}" type="datetime1">
              <a:rPr lang="en-US" smtClean="0"/>
              <a:t>3/31/2026</a:t>
            </a:fld>
            <a:endParaRPr lang="en-US"/>
          </a:p>
        </p:txBody>
      </p:sp>
      <p:sp>
        <p:nvSpPr>
          <p:cNvPr id="5" name="Footer Placeholder 4"/>
          <p:cNvSpPr>
            <a:spLocks noGrp="1"/>
          </p:cNvSpPr>
          <p:nvPr>
            <p:ph type="ftr" sz="quarter" idx="11"/>
          </p:nvPr>
        </p:nvSpPr>
        <p:spPr/>
        <p:txBody>
          <a:bodyPr/>
          <a:lstStyle/>
          <a:p>
            <a:r>
              <a:rPr lang="en-US"/>
              <a:t>Presenter: Sarojini Pokhrel, WFG</a:t>
            </a:r>
          </a:p>
        </p:txBody>
      </p:sp>
      <p:sp>
        <p:nvSpPr>
          <p:cNvPr id="6" name="Slide Number Placeholder 5"/>
          <p:cNvSpPr>
            <a:spLocks noGrp="1"/>
          </p:cNvSpPr>
          <p:nvPr>
            <p:ph type="sldNum" sz="quarter" idx="12"/>
          </p:nvPr>
        </p:nvSpPr>
        <p:spPr/>
        <p:txBody>
          <a:bodyPr/>
          <a:lstStyle/>
          <a:p>
            <a:fld id="{ED87AB4C-FC3A-4E15-BC9A-3395C324A7AE}" type="slidenum">
              <a:rPr lang="en-US" smtClean="0"/>
              <a:t>‹#›</a:t>
            </a:fld>
            <a:endParaRPr lang="en-US"/>
          </a:p>
        </p:txBody>
      </p:sp>
    </p:spTree>
    <p:extLst>
      <p:ext uri="{BB962C8B-B14F-4D97-AF65-F5344CB8AC3E}">
        <p14:creationId xmlns:p14="http://schemas.microsoft.com/office/powerpoint/2010/main" val="1334729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CCC2FE-3D14-41FE-AA97-8D910835BEAD}" type="datetime1">
              <a:rPr lang="en-US" smtClean="0"/>
              <a:t>3/31/2026</a:t>
            </a:fld>
            <a:endParaRPr lang="en-US"/>
          </a:p>
        </p:txBody>
      </p:sp>
      <p:sp>
        <p:nvSpPr>
          <p:cNvPr id="5" name="Footer Placeholder 4"/>
          <p:cNvSpPr>
            <a:spLocks noGrp="1"/>
          </p:cNvSpPr>
          <p:nvPr>
            <p:ph type="ftr" sz="quarter" idx="11"/>
          </p:nvPr>
        </p:nvSpPr>
        <p:spPr/>
        <p:txBody>
          <a:bodyPr/>
          <a:lstStyle/>
          <a:p>
            <a:r>
              <a:rPr lang="en-US"/>
              <a:t>Presenter: Sarojini Pokhrel, WFG</a:t>
            </a:r>
          </a:p>
        </p:txBody>
      </p:sp>
      <p:sp>
        <p:nvSpPr>
          <p:cNvPr id="6" name="Slide Number Placeholder 5"/>
          <p:cNvSpPr>
            <a:spLocks noGrp="1"/>
          </p:cNvSpPr>
          <p:nvPr>
            <p:ph type="sldNum" sz="quarter" idx="12"/>
          </p:nvPr>
        </p:nvSpPr>
        <p:spPr/>
        <p:txBody>
          <a:bodyPr/>
          <a:lstStyle/>
          <a:p>
            <a:fld id="{ED87AB4C-FC3A-4E15-BC9A-3395C324A7AE}" type="slidenum">
              <a:rPr lang="en-US" smtClean="0"/>
              <a:t>‹#›</a:t>
            </a:fld>
            <a:endParaRPr lang="en-US"/>
          </a:p>
        </p:txBody>
      </p:sp>
    </p:spTree>
    <p:extLst>
      <p:ext uri="{BB962C8B-B14F-4D97-AF65-F5344CB8AC3E}">
        <p14:creationId xmlns:p14="http://schemas.microsoft.com/office/powerpoint/2010/main" val="783613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945215-9834-4ECE-A7C8-64EBC1A14124}" type="datetime1">
              <a:rPr lang="en-US" smtClean="0"/>
              <a:t>3/31/2026</a:t>
            </a:fld>
            <a:endParaRPr lang="en-US"/>
          </a:p>
        </p:txBody>
      </p:sp>
      <p:sp>
        <p:nvSpPr>
          <p:cNvPr id="5" name="Footer Placeholder 4"/>
          <p:cNvSpPr>
            <a:spLocks noGrp="1"/>
          </p:cNvSpPr>
          <p:nvPr>
            <p:ph type="ftr" sz="quarter" idx="11"/>
          </p:nvPr>
        </p:nvSpPr>
        <p:spPr/>
        <p:txBody>
          <a:bodyPr/>
          <a:lstStyle/>
          <a:p>
            <a:r>
              <a:rPr lang="en-US"/>
              <a:t>Presenter: Sarojini Pokhrel, WFG</a:t>
            </a:r>
          </a:p>
        </p:txBody>
      </p:sp>
      <p:sp>
        <p:nvSpPr>
          <p:cNvPr id="6" name="Slide Number Placeholder 5"/>
          <p:cNvSpPr>
            <a:spLocks noGrp="1"/>
          </p:cNvSpPr>
          <p:nvPr>
            <p:ph type="sldNum" sz="quarter" idx="12"/>
          </p:nvPr>
        </p:nvSpPr>
        <p:spPr/>
        <p:txBody>
          <a:bodyPr/>
          <a:lstStyle/>
          <a:p>
            <a:fld id="{ED87AB4C-FC3A-4E15-BC9A-3395C324A7AE}" type="slidenum">
              <a:rPr lang="en-US" smtClean="0"/>
              <a:t>‹#›</a:t>
            </a:fld>
            <a:endParaRPr lang="en-US"/>
          </a:p>
        </p:txBody>
      </p:sp>
    </p:spTree>
    <p:extLst>
      <p:ext uri="{BB962C8B-B14F-4D97-AF65-F5344CB8AC3E}">
        <p14:creationId xmlns:p14="http://schemas.microsoft.com/office/powerpoint/2010/main" val="108882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3AF942-91E1-42C5-B110-BC1DF76AE394}" type="datetime1">
              <a:rPr lang="en-US" smtClean="0"/>
              <a:t>3/31/2026</a:t>
            </a:fld>
            <a:endParaRPr lang="en-US"/>
          </a:p>
        </p:txBody>
      </p:sp>
      <p:sp>
        <p:nvSpPr>
          <p:cNvPr id="6" name="Footer Placeholder 5"/>
          <p:cNvSpPr>
            <a:spLocks noGrp="1"/>
          </p:cNvSpPr>
          <p:nvPr>
            <p:ph type="ftr" sz="quarter" idx="11"/>
          </p:nvPr>
        </p:nvSpPr>
        <p:spPr/>
        <p:txBody>
          <a:bodyPr/>
          <a:lstStyle/>
          <a:p>
            <a:r>
              <a:rPr lang="en-US"/>
              <a:t>Presenter: Sarojini Pokhrel, WFG</a:t>
            </a:r>
          </a:p>
        </p:txBody>
      </p:sp>
      <p:sp>
        <p:nvSpPr>
          <p:cNvPr id="7" name="Slide Number Placeholder 6"/>
          <p:cNvSpPr>
            <a:spLocks noGrp="1"/>
          </p:cNvSpPr>
          <p:nvPr>
            <p:ph type="sldNum" sz="quarter" idx="12"/>
          </p:nvPr>
        </p:nvSpPr>
        <p:spPr/>
        <p:txBody>
          <a:bodyPr/>
          <a:lstStyle/>
          <a:p>
            <a:fld id="{ED87AB4C-FC3A-4E15-BC9A-3395C324A7AE}" type="slidenum">
              <a:rPr lang="en-US" smtClean="0"/>
              <a:t>‹#›</a:t>
            </a:fld>
            <a:endParaRPr lang="en-US"/>
          </a:p>
        </p:txBody>
      </p:sp>
    </p:spTree>
    <p:extLst>
      <p:ext uri="{BB962C8B-B14F-4D97-AF65-F5344CB8AC3E}">
        <p14:creationId xmlns:p14="http://schemas.microsoft.com/office/powerpoint/2010/main" val="1512305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E8C6C5-4E94-4637-AF78-E282AB873A47}" type="datetime1">
              <a:rPr lang="en-US" smtClean="0"/>
              <a:t>3/31/2026</a:t>
            </a:fld>
            <a:endParaRPr lang="en-US"/>
          </a:p>
        </p:txBody>
      </p:sp>
      <p:sp>
        <p:nvSpPr>
          <p:cNvPr id="8" name="Footer Placeholder 7"/>
          <p:cNvSpPr>
            <a:spLocks noGrp="1"/>
          </p:cNvSpPr>
          <p:nvPr>
            <p:ph type="ftr" sz="quarter" idx="11"/>
          </p:nvPr>
        </p:nvSpPr>
        <p:spPr/>
        <p:txBody>
          <a:bodyPr/>
          <a:lstStyle/>
          <a:p>
            <a:r>
              <a:rPr lang="en-US"/>
              <a:t>Presenter: Sarojini Pokhrel, WFG</a:t>
            </a:r>
          </a:p>
        </p:txBody>
      </p:sp>
      <p:sp>
        <p:nvSpPr>
          <p:cNvPr id="9" name="Slide Number Placeholder 8"/>
          <p:cNvSpPr>
            <a:spLocks noGrp="1"/>
          </p:cNvSpPr>
          <p:nvPr>
            <p:ph type="sldNum" sz="quarter" idx="12"/>
          </p:nvPr>
        </p:nvSpPr>
        <p:spPr/>
        <p:txBody>
          <a:bodyPr/>
          <a:lstStyle/>
          <a:p>
            <a:fld id="{ED87AB4C-FC3A-4E15-BC9A-3395C324A7AE}" type="slidenum">
              <a:rPr lang="en-US" smtClean="0"/>
              <a:t>‹#›</a:t>
            </a:fld>
            <a:endParaRPr lang="en-US"/>
          </a:p>
        </p:txBody>
      </p:sp>
    </p:spTree>
    <p:extLst>
      <p:ext uri="{BB962C8B-B14F-4D97-AF65-F5344CB8AC3E}">
        <p14:creationId xmlns:p14="http://schemas.microsoft.com/office/powerpoint/2010/main" val="1283418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234E6C-392B-40D7-8A21-BAD866734406}" type="datetime1">
              <a:rPr lang="en-US" smtClean="0"/>
              <a:t>3/31/2026</a:t>
            </a:fld>
            <a:endParaRPr lang="en-US"/>
          </a:p>
        </p:txBody>
      </p:sp>
      <p:sp>
        <p:nvSpPr>
          <p:cNvPr id="4" name="Footer Placeholder 3"/>
          <p:cNvSpPr>
            <a:spLocks noGrp="1"/>
          </p:cNvSpPr>
          <p:nvPr>
            <p:ph type="ftr" sz="quarter" idx="11"/>
          </p:nvPr>
        </p:nvSpPr>
        <p:spPr/>
        <p:txBody>
          <a:bodyPr/>
          <a:lstStyle/>
          <a:p>
            <a:r>
              <a:rPr lang="en-US"/>
              <a:t>Presenter: Sarojini Pokhrel, WFG</a:t>
            </a:r>
          </a:p>
        </p:txBody>
      </p:sp>
      <p:sp>
        <p:nvSpPr>
          <p:cNvPr id="5" name="Slide Number Placeholder 4"/>
          <p:cNvSpPr>
            <a:spLocks noGrp="1"/>
          </p:cNvSpPr>
          <p:nvPr>
            <p:ph type="sldNum" sz="quarter" idx="12"/>
          </p:nvPr>
        </p:nvSpPr>
        <p:spPr/>
        <p:txBody>
          <a:bodyPr/>
          <a:lstStyle/>
          <a:p>
            <a:fld id="{ED87AB4C-FC3A-4E15-BC9A-3395C324A7AE}" type="slidenum">
              <a:rPr lang="en-US" smtClean="0"/>
              <a:t>‹#›</a:t>
            </a:fld>
            <a:endParaRPr lang="en-US"/>
          </a:p>
        </p:txBody>
      </p:sp>
    </p:spTree>
    <p:extLst>
      <p:ext uri="{BB962C8B-B14F-4D97-AF65-F5344CB8AC3E}">
        <p14:creationId xmlns:p14="http://schemas.microsoft.com/office/powerpoint/2010/main" val="3436171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0C9413-20D5-44F5-B420-5660B87174A9}" type="datetime1">
              <a:rPr lang="en-US" smtClean="0"/>
              <a:t>3/31/2026</a:t>
            </a:fld>
            <a:endParaRPr lang="en-US"/>
          </a:p>
        </p:txBody>
      </p:sp>
      <p:sp>
        <p:nvSpPr>
          <p:cNvPr id="3" name="Footer Placeholder 2"/>
          <p:cNvSpPr>
            <a:spLocks noGrp="1"/>
          </p:cNvSpPr>
          <p:nvPr>
            <p:ph type="ftr" sz="quarter" idx="11"/>
          </p:nvPr>
        </p:nvSpPr>
        <p:spPr/>
        <p:txBody>
          <a:bodyPr/>
          <a:lstStyle/>
          <a:p>
            <a:r>
              <a:rPr lang="en-US"/>
              <a:t>Presenter: Sarojini Pokhrel, WFG</a:t>
            </a:r>
          </a:p>
        </p:txBody>
      </p:sp>
      <p:sp>
        <p:nvSpPr>
          <p:cNvPr id="4" name="Slide Number Placeholder 3"/>
          <p:cNvSpPr>
            <a:spLocks noGrp="1"/>
          </p:cNvSpPr>
          <p:nvPr>
            <p:ph type="sldNum" sz="quarter" idx="12"/>
          </p:nvPr>
        </p:nvSpPr>
        <p:spPr/>
        <p:txBody>
          <a:bodyPr/>
          <a:lstStyle/>
          <a:p>
            <a:fld id="{ED87AB4C-FC3A-4E15-BC9A-3395C324A7AE}" type="slidenum">
              <a:rPr lang="en-US" smtClean="0"/>
              <a:t>‹#›</a:t>
            </a:fld>
            <a:endParaRPr lang="en-US"/>
          </a:p>
        </p:txBody>
      </p:sp>
    </p:spTree>
    <p:extLst>
      <p:ext uri="{BB962C8B-B14F-4D97-AF65-F5344CB8AC3E}">
        <p14:creationId xmlns:p14="http://schemas.microsoft.com/office/powerpoint/2010/main" val="3740935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F4C4E19-6973-46EB-8B3C-E8E70900CCF9}" type="datetime1">
              <a:rPr lang="en-US" smtClean="0"/>
              <a:t>3/31/2026</a:t>
            </a:fld>
            <a:endParaRPr lang="en-US"/>
          </a:p>
        </p:txBody>
      </p:sp>
      <p:sp>
        <p:nvSpPr>
          <p:cNvPr id="6" name="Footer Placeholder 5"/>
          <p:cNvSpPr>
            <a:spLocks noGrp="1"/>
          </p:cNvSpPr>
          <p:nvPr>
            <p:ph type="ftr" sz="quarter" idx="11"/>
          </p:nvPr>
        </p:nvSpPr>
        <p:spPr/>
        <p:txBody>
          <a:bodyPr/>
          <a:lstStyle/>
          <a:p>
            <a:r>
              <a:rPr lang="en-US"/>
              <a:t>Presenter: Sarojini Pokhrel, WFG</a:t>
            </a:r>
          </a:p>
        </p:txBody>
      </p:sp>
      <p:sp>
        <p:nvSpPr>
          <p:cNvPr id="7" name="Slide Number Placeholder 6"/>
          <p:cNvSpPr>
            <a:spLocks noGrp="1"/>
          </p:cNvSpPr>
          <p:nvPr>
            <p:ph type="sldNum" sz="quarter" idx="12"/>
          </p:nvPr>
        </p:nvSpPr>
        <p:spPr/>
        <p:txBody>
          <a:bodyPr/>
          <a:lstStyle/>
          <a:p>
            <a:fld id="{ED87AB4C-FC3A-4E15-BC9A-3395C324A7AE}" type="slidenum">
              <a:rPr lang="en-US" smtClean="0"/>
              <a:t>‹#›</a:t>
            </a:fld>
            <a:endParaRPr lang="en-US"/>
          </a:p>
        </p:txBody>
      </p:sp>
    </p:spTree>
    <p:extLst>
      <p:ext uri="{BB962C8B-B14F-4D97-AF65-F5344CB8AC3E}">
        <p14:creationId xmlns:p14="http://schemas.microsoft.com/office/powerpoint/2010/main" val="2280183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5751457-0AAC-4425-A729-049CC2027F9E}" type="datetime1">
              <a:rPr lang="en-US" smtClean="0"/>
              <a:t>3/31/2026</a:t>
            </a:fld>
            <a:endParaRPr lang="en-US"/>
          </a:p>
        </p:txBody>
      </p:sp>
      <p:sp>
        <p:nvSpPr>
          <p:cNvPr id="6" name="Footer Placeholder 5"/>
          <p:cNvSpPr>
            <a:spLocks noGrp="1"/>
          </p:cNvSpPr>
          <p:nvPr>
            <p:ph type="ftr" sz="quarter" idx="11"/>
          </p:nvPr>
        </p:nvSpPr>
        <p:spPr/>
        <p:txBody>
          <a:bodyPr/>
          <a:lstStyle/>
          <a:p>
            <a:r>
              <a:rPr lang="en-US"/>
              <a:t>Presenter: Sarojini Pokhrel, WFG</a:t>
            </a:r>
          </a:p>
        </p:txBody>
      </p:sp>
      <p:sp>
        <p:nvSpPr>
          <p:cNvPr id="7" name="Slide Number Placeholder 6"/>
          <p:cNvSpPr>
            <a:spLocks noGrp="1"/>
          </p:cNvSpPr>
          <p:nvPr>
            <p:ph type="sldNum" sz="quarter" idx="12"/>
          </p:nvPr>
        </p:nvSpPr>
        <p:spPr/>
        <p:txBody>
          <a:bodyPr/>
          <a:lstStyle/>
          <a:p>
            <a:fld id="{ED87AB4C-FC3A-4E15-BC9A-3395C324A7AE}" type="slidenum">
              <a:rPr lang="en-US" smtClean="0"/>
              <a:t>‹#›</a:t>
            </a:fld>
            <a:endParaRPr lang="en-US"/>
          </a:p>
        </p:txBody>
      </p:sp>
    </p:spTree>
    <p:extLst>
      <p:ext uri="{BB962C8B-B14F-4D97-AF65-F5344CB8AC3E}">
        <p14:creationId xmlns:p14="http://schemas.microsoft.com/office/powerpoint/2010/main" val="1866889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ABF1A1-B464-484E-A345-8C0E05266806}" type="datetime1">
              <a:rPr lang="en-US" smtClean="0"/>
              <a:t>3/31/2026</a:t>
            </a:fld>
            <a:endParaRPr lang="en-US"/>
          </a:p>
        </p:txBody>
      </p:sp>
      <p:sp>
        <p:nvSpPr>
          <p:cNvPr id="5" name="Footer Placeholder 4"/>
          <p:cNvSpPr>
            <a:spLocks noGrp="1"/>
          </p:cNvSpPr>
          <p:nvPr>
            <p:ph type="ftr" sz="quarter" idx="11"/>
          </p:nvPr>
        </p:nvSpPr>
        <p:spPr/>
        <p:txBody>
          <a:bodyPr/>
          <a:lstStyle/>
          <a:p>
            <a:r>
              <a:rPr lang="en-US"/>
              <a:t>Presenter: Sarojini Pokhrel, WFG</a:t>
            </a:r>
          </a:p>
        </p:txBody>
      </p:sp>
      <p:sp>
        <p:nvSpPr>
          <p:cNvPr id="6" name="Slide Number Placeholder 5"/>
          <p:cNvSpPr>
            <a:spLocks noGrp="1"/>
          </p:cNvSpPr>
          <p:nvPr>
            <p:ph type="sldNum" sz="quarter" idx="12"/>
          </p:nvPr>
        </p:nvSpPr>
        <p:spPr/>
        <p:txBody>
          <a:bodyPr/>
          <a:lstStyle/>
          <a:p>
            <a:fld id="{ED87AB4C-FC3A-4E15-BC9A-3395C324A7AE}" type="slidenum">
              <a:rPr lang="en-US" smtClean="0"/>
              <a:t>‹#›</a:t>
            </a:fld>
            <a:endParaRPr lang="en-US"/>
          </a:p>
        </p:txBody>
      </p:sp>
    </p:spTree>
    <p:extLst>
      <p:ext uri="{BB962C8B-B14F-4D97-AF65-F5344CB8AC3E}">
        <p14:creationId xmlns:p14="http://schemas.microsoft.com/office/powerpoint/2010/main" val="479522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0A700E-8A57-4FCC-8ACA-DDF0E6848331}" type="datetime1">
              <a:rPr lang="en-US" smtClean="0"/>
              <a:t>3/31/2026</a:t>
            </a:fld>
            <a:endParaRPr lang="en-US"/>
          </a:p>
        </p:txBody>
      </p:sp>
      <p:sp>
        <p:nvSpPr>
          <p:cNvPr id="5" name="Footer Placeholder 4"/>
          <p:cNvSpPr>
            <a:spLocks noGrp="1"/>
          </p:cNvSpPr>
          <p:nvPr>
            <p:ph type="ftr" sz="quarter" idx="11"/>
          </p:nvPr>
        </p:nvSpPr>
        <p:spPr/>
        <p:txBody>
          <a:bodyPr/>
          <a:lstStyle/>
          <a:p>
            <a:r>
              <a:rPr lang="en-US"/>
              <a:t>Presenter: Sarojini Pokhrel, WFG</a:t>
            </a:r>
          </a:p>
        </p:txBody>
      </p:sp>
      <p:sp>
        <p:nvSpPr>
          <p:cNvPr id="6" name="Slide Number Placeholder 5"/>
          <p:cNvSpPr>
            <a:spLocks noGrp="1"/>
          </p:cNvSpPr>
          <p:nvPr>
            <p:ph type="sldNum" sz="quarter" idx="12"/>
          </p:nvPr>
        </p:nvSpPr>
        <p:spPr/>
        <p:txBody>
          <a:bodyPr/>
          <a:lstStyle/>
          <a:p>
            <a:fld id="{ED87AB4C-FC3A-4E15-BC9A-3395C324A7AE}" type="slidenum">
              <a:rPr lang="en-US" smtClean="0"/>
              <a:t>‹#›</a:t>
            </a:fld>
            <a:endParaRPr lang="en-US"/>
          </a:p>
        </p:txBody>
      </p:sp>
    </p:spTree>
    <p:extLst>
      <p:ext uri="{BB962C8B-B14F-4D97-AF65-F5344CB8AC3E}">
        <p14:creationId xmlns:p14="http://schemas.microsoft.com/office/powerpoint/2010/main" val="4140402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3A1E577C-EFE5-4FE0-8B44-4366835CC089}" type="datetime1">
              <a:rPr lang="en-US" smtClean="0"/>
              <a:t>3/31/2026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r>
              <a:rPr lang="en-US"/>
              <a:t>Presenter: Sarojini Pokhrel, WFG</a:t>
            </a: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ED87AB4C-FC3A-4E15-BC9A-3395C324A7AE}" type="slidenum">
              <a:rPr lang="en-US" smtClean="0"/>
              <a:t>‹#›</a:t>
            </a:fld>
            <a:endParaRPr lang="en-US"/>
          </a:p>
        </p:txBody>
      </p:sp>
    </p:spTree>
    <p:extLst>
      <p:ext uri="{BB962C8B-B14F-4D97-AF65-F5344CB8AC3E}">
        <p14:creationId xmlns:p14="http://schemas.microsoft.com/office/powerpoint/2010/main" val="987629371"/>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hemeOverride" Target="../theme/themeOverride1.xml"/><Relationship Id="rId5" Type="http://schemas.openxmlformats.org/officeDocument/2006/relationships/image" Target="../media/image5.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74D4CFC-8324-DA9E-D81B-9BD96E9DE7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0667" y="2170574"/>
            <a:ext cx="4967111" cy="2596689"/>
          </a:xfrm>
          <a:prstGeom prst="rect">
            <a:avLst/>
          </a:prstGeom>
        </p:spPr>
      </p:pic>
      <p:pic>
        <p:nvPicPr>
          <p:cNvPr id="7" name="Picture 6">
            <a:extLst>
              <a:ext uri="{FF2B5EF4-FFF2-40B4-BE49-F238E27FC236}">
                <a16:creationId xmlns:a16="http://schemas.microsoft.com/office/drawing/2014/main" id="{49F06EFC-63FE-7477-FF6B-22C1D1E32C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047303" cy="698202"/>
          </a:xfrm>
          <a:prstGeom prst="rect">
            <a:avLst/>
          </a:prstGeom>
        </p:spPr>
      </p:pic>
      <p:sp>
        <p:nvSpPr>
          <p:cNvPr id="2" name="TextBox 1">
            <a:extLst>
              <a:ext uri="{FF2B5EF4-FFF2-40B4-BE49-F238E27FC236}">
                <a16:creationId xmlns:a16="http://schemas.microsoft.com/office/drawing/2014/main" id="{BCCCAE5C-B2CA-A2BD-A29D-EBE279EF3A5F}"/>
              </a:ext>
            </a:extLst>
          </p:cNvPr>
          <p:cNvSpPr txBox="1"/>
          <p:nvPr/>
        </p:nvSpPr>
        <p:spPr>
          <a:xfrm>
            <a:off x="51205" y="731779"/>
            <a:ext cx="8961121" cy="1569660"/>
          </a:xfrm>
          <a:prstGeom prst="rect">
            <a:avLst/>
          </a:prstGeom>
          <a:noFill/>
        </p:spPr>
        <p:txBody>
          <a:bodyPr vert="horz" wrap="square" rtlCol="0">
            <a:spAutoFit/>
          </a:bodyPr>
          <a:lstStyle>
            <a:defPPr>
              <a:defRPr lang="en-US"/>
            </a:defPPr>
            <a:lvl1pPr>
              <a:defRPr sz="3200" b="1">
                <a:solidFill>
                  <a:srgbClr val="002060"/>
                </a:solidFill>
                <a:latin typeface="Arial" panose="020B0604020202020204" pitchFamily="34" charset="0"/>
              </a:defRPr>
            </a:lvl1pPr>
          </a:lstStyle>
          <a:p>
            <a:pPr algn="ctr"/>
            <a:r>
              <a:rPr lang="en-US" dirty="0"/>
              <a:t>Building Family Freedom: </a:t>
            </a:r>
          </a:p>
          <a:p>
            <a:pPr algn="ctr"/>
            <a:r>
              <a:rPr lang="en-US" dirty="0"/>
              <a:t>A Simple Plan for You, Your Kids, </a:t>
            </a:r>
          </a:p>
          <a:p>
            <a:pPr algn="ctr"/>
            <a:r>
              <a:rPr lang="en-US" dirty="0"/>
              <a:t>and the Generations to Come</a:t>
            </a:r>
          </a:p>
        </p:txBody>
      </p:sp>
      <p:sp>
        <p:nvSpPr>
          <p:cNvPr id="3" name="TextBox 2">
            <a:extLst>
              <a:ext uri="{FF2B5EF4-FFF2-40B4-BE49-F238E27FC236}">
                <a16:creationId xmlns:a16="http://schemas.microsoft.com/office/drawing/2014/main" id="{DDA0684A-1E0E-4409-8A7C-1CFE4A1F2896}"/>
              </a:ext>
            </a:extLst>
          </p:cNvPr>
          <p:cNvSpPr txBox="1"/>
          <p:nvPr/>
        </p:nvSpPr>
        <p:spPr>
          <a:xfrm>
            <a:off x="0" y="2794000"/>
            <a:ext cx="9144000" cy="461665"/>
          </a:xfrm>
          <a:prstGeom prst="rect">
            <a:avLst/>
          </a:prstGeom>
          <a:noFill/>
        </p:spPr>
        <p:txBody>
          <a:bodyPr vert="horz" wrap="square" rtlCol="0">
            <a:spAutoFit/>
          </a:bodyPr>
          <a:lstStyle/>
          <a:p>
            <a:pPr algn="ctr"/>
            <a:r>
              <a:rPr lang="en-US" sz="2400" b="1" dirty="0">
                <a:solidFill>
                  <a:srgbClr val="FF0000"/>
                </a:solidFill>
                <a:latin typeface="Arial" panose="020B0604020202020204" pitchFamily="34" charset="0"/>
              </a:rPr>
              <a:t>A Strategic Approach to Wealth and Protection</a:t>
            </a:r>
          </a:p>
        </p:txBody>
      </p:sp>
      <p:sp>
        <p:nvSpPr>
          <p:cNvPr id="10" name="Date Placeholder 9">
            <a:extLst>
              <a:ext uri="{FF2B5EF4-FFF2-40B4-BE49-F238E27FC236}">
                <a16:creationId xmlns:a16="http://schemas.microsoft.com/office/drawing/2014/main" id="{2F4A3DD4-38AC-60EE-B25A-42B74E72C9D1}"/>
              </a:ext>
            </a:extLst>
          </p:cNvPr>
          <p:cNvSpPr>
            <a:spLocks noGrp="1"/>
          </p:cNvSpPr>
          <p:nvPr>
            <p:ph type="dt" sz="half" idx="10"/>
          </p:nvPr>
        </p:nvSpPr>
        <p:spPr/>
        <p:txBody>
          <a:bodyPr/>
          <a:lstStyle/>
          <a:p>
            <a:fld id="{D0CBB04F-E178-405F-A7A2-84B60D5567F4}" type="datetime1">
              <a:rPr lang="en-US" smtClean="0"/>
              <a:t>3/31/2026</a:t>
            </a:fld>
            <a:endParaRPr lang="en-US"/>
          </a:p>
        </p:txBody>
      </p:sp>
      <p:sp>
        <p:nvSpPr>
          <p:cNvPr id="12" name="Footer Placeholder 11">
            <a:extLst>
              <a:ext uri="{FF2B5EF4-FFF2-40B4-BE49-F238E27FC236}">
                <a16:creationId xmlns:a16="http://schemas.microsoft.com/office/drawing/2014/main" id="{29630865-CE2D-F6A1-7DBD-968B314A245A}"/>
              </a:ext>
            </a:extLst>
          </p:cNvPr>
          <p:cNvSpPr>
            <a:spLocks noGrp="1"/>
          </p:cNvSpPr>
          <p:nvPr>
            <p:ph type="ftr" sz="quarter" idx="11"/>
          </p:nvPr>
        </p:nvSpPr>
        <p:spPr/>
        <p:txBody>
          <a:bodyPr/>
          <a:lstStyle/>
          <a:p>
            <a:r>
              <a:rPr lang="en-US"/>
              <a:t>Presenter: Sarojini Pokhrel, WFG</a:t>
            </a:r>
          </a:p>
        </p:txBody>
      </p:sp>
      <p:sp>
        <p:nvSpPr>
          <p:cNvPr id="13" name="Slide Number Placeholder 12">
            <a:extLst>
              <a:ext uri="{FF2B5EF4-FFF2-40B4-BE49-F238E27FC236}">
                <a16:creationId xmlns:a16="http://schemas.microsoft.com/office/drawing/2014/main" id="{1302300A-FB4A-7B30-E415-465C008188C3}"/>
              </a:ext>
            </a:extLst>
          </p:cNvPr>
          <p:cNvSpPr>
            <a:spLocks noGrp="1"/>
          </p:cNvSpPr>
          <p:nvPr>
            <p:ph type="sldNum" sz="quarter" idx="12"/>
          </p:nvPr>
        </p:nvSpPr>
        <p:spPr/>
        <p:txBody>
          <a:bodyPr/>
          <a:lstStyle/>
          <a:p>
            <a:fld id="{ED87AB4C-FC3A-4E15-BC9A-3395C324A7AE}" type="slidenum">
              <a:rPr lang="en-US" smtClean="0"/>
              <a:t>1</a:t>
            </a:fld>
            <a:endParaRPr lang="en-US"/>
          </a:p>
        </p:txBody>
      </p:sp>
    </p:spTree>
    <p:extLst>
      <p:ext uri="{BB962C8B-B14F-4D97-AF65-F5344CB8AC3E}">
        <p14:creationId xmlns:p14="http://schemas.microsoft.com/office/powerpoint/2010/main" val="387778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6CC399-B96F-907D-6052-3C5F6D6A704D}"/>
              </a:ext>
            </a:extLst>
          </p:cNvPr>
          <p:cNvSpPr txBox="1"/>
          <p:nvPr/>
        </p:nvSpPr>
        <p:spPr>
          <a:xfrm>
            <a:off x="628650" y="580812"/>
            <a:ext cx="10922000" cy="584775"/>
          </a:xfrm>
          <a:prstGeom prst="rect">
            <a:avLst/>
          </a:prstGeom>
          <a:noFill/>
        </p:spPr>
        <p:txBody>
          <a:bodyPr vert="horz" rtlCol="0">
            <a:spAutoFit/>
          </a:bodyPr>
          <a:lstStyle/>
          <a:p>
            <a:r>
              <a:rPr lang="en-US" sz="3200" b="1" dirty="0">
                <a:solidFill>
                  <a:srgbClr val="002060"/>
                </a:solidFill>
                <a:latin typeface="Arial" panose="020B0604020202020204" pitchFamily="34" charset="0"/>
              </a:rPr>
              <a:t>Starting the Conversation</a:t>
            </a:r>
          </a:p>
        </p:txBody>
      </p:sp>
      <p:sp>
        <p:nvSpPr>
          <p:cNvPr id="3" name="TextBox 2">
            <a:extLst>
              <a:ext uri="{FF2B5EF4-FFF2-40B4-BE49-F238E27FC236}">
                <a16:creationId xmlns:a16="http://schemas.microsoft.com/office/drawing/2014/main" id="{D526FD2E-2D98-80B1-D676-10370EC3582A}"/>
              </a:ext>
            </a:extLst>
          </p:cNvPr>
          <p:cNvSpPr txBox="1"/>
          <p:nvPr/>
        </p:nvSpPr>
        <p:spPr>
          <a:xfrm>
            <a:off x="635000" y="1079500"/>
            <a:ext cx="10922000" cy="400110"/>
          </a:xfrm>
          <a:prstGeom prst="rect">
            <a:avLst/>
          </a:prstGeom>
          <a:noFill/>
        </p:spPr>
        <p:txBody>
          <a:bodyPr vert="horz" rtlCol="0">
            <a:spAutoFit/>
          </a:bodyPr>
          <a:lstStyle/>
          <a:p>
            <a:r>
              <a:rPr lang="en-US" sz="2000" b="1">
                <a:solidFill>
                  <a:srgbClr val="800080"/>
                </a:solidFill>
                <a:latin typeface="Arial" panose="020B0604020202020204" pitchFamily="34" charset="0"/>
              </a:rPr>
              <a:t>Your Goals, Your Vision, Your Legacy</a:t>
            </a:r>
          </a:p>
        </p:txBody>
      </p:sp>
      <p:sp>
        <p:nvSpPr>
          <p:cNvPr id="4" name="TextBox 3">
            <a:extLst>
              <a:ext uri="{FF2B5EF4-FFF2-40B4-BE49-F238E27FC236}">
                <a16:creationId xmlns:a16="http://schemas.microsoft.com/office/drawing/2014/main" id="{446C37ED-750B-30E7-17B0-BDD47693CB25}"/>
              </a:ext>
            </a:extLst>
          </p:cNvPr>
          <p:cNvSpPr txBox="1"/>
          <p:nvPr/>
        </p:nvSpPr>
        <p:spPr>
          <a:xfrm>
            <a:off x="762000" y="2032000"/>
            <a:ext cx="7874000" cy="1215717"/>
          </a:xfrm>
          <a:prstGeom prst="rect">
            <a:avLst/>
          </a:prstGeom>
          <a:noFill/>
        </p:spPr>
        <p:txBody>
          <a:bodyPr vert="horz" rtlCol="0">
            <a:spAutoFit/>
          </a:bodyPr>
          <a:lstStyle/>
          <a:p>
            <a:pPr>
              <a:spcBef>
                <a:spcPts val="1000"/>
              </a:spcBef>
            </a:pPr>
            <a:r>
              <a:rPr lang="en-US" sz="1200">
                <a:solidFill>
                  <a:srgbClr val="000000"/>
                </a:solidFill>
                <a:latin typeface="Calibri" panose="020F0502020204030204" pitchFamily="34" charset="0"/>
              </a:rPr>
              <a:t>• What does </a:t>
            </a:r>
            <a:r>
              <a:rPr lang="en-US" sz="1200" b="1">
                <a:solidFill>
                  <a:srgbClr val="000000"/>
                </a:solidFill>
                <a:latin typeface="Calibri" panose="020F0502020204030204" pitchFamily="34" charset="0"/>
              </a:rPr>
              <a:t>Financial Freedom</a:t>
            </a:r>
            <a:r>
              <a:rPr lang="en-US" sz="1200">
                <a:solidFill>
                  <a:srgbClr val="000000"/>
                </a:solidFill>
                <a:latin typeface="Calibri" panose="020F0502020204030204" pitchFamily="34" charset="0"/>
              </a:rPr>
              <a:t> actually look like for your family?</a:t>
            </a:r>
          </a:p>
          <a:p>
            <a:pPr>
              <a:spcBef>
                <a:spcPts val="1000"/>
              </a:spcBef>
            </a:pPr>
            <a:r>
              <a:rPr lang="en-US" sz="1200">
                <a:solidFill>
                  <a:srgbClr val="000000"/>
                </a:solidFill>
                <a:latin typeface="Calibri" panose="020F0502020204030204" pitchFamily="34" charset="0"/>
              </a:rPr>
              <a:t>• The </a:t>
            </a:r>
            <a:r>
              <a:rPr lang="en-US" sz="1200" b="1">
                <a:solidFill>
                  <a:srgbClr val="000000"/>
                </a:solidFill>
                <a:latin typeface="Calibri" panose="020F0502020204030204" pitchFamily="34" charset="0"/>
              </a:rPr>
              <a:t>Wealth Gap</a:t>
            </a:r>
            <a:r>
              <a:rPr lang="en-US" sz="1200">
                <a:solidFill>
                  <a:srgbClr val="000000"/>
                </a:solidFill>
                <a:latin typeface="Calibri" panose="020F0502020204030204" pitchFamily="34" charset="0"/>
              </a:rPr>
              <a:t>: Why some families move forward while others stay stuck.</a:t>
            </a:r>
          </a:p>
          <a:p>
            <a:pPr>
              <a:spcBef>
                <a:spcPts val="1000"/>
              </a:spcBef>
            </a:pPr>
            <a:r>
              <a:rPr lang="en-US" sz="1200">
                <a:solidFill>
                  <a:srgbClr val="000000"/>
                </a:solidFill>
                <a:latin typeface="Calibri" panose="020F0502020204030204" pitchFamily="34" charset="0"/>
              </a:rPr>
              <a:t>• </a:t>
            </a:r>
            <a:r>
              <a:rPr lang="en-US" sz="1200" b="1">
                <a:solidFill>
                  <a:srgbClr val="000000"/>
                </a:solidFill>
                <a:latin typeface="Calibri" panose="020F0502020204030204" pitchFamily="34" charset="0"/>
              </a:rPr>
              <a:t>Mindset Shift</a:t>
            </a:r>
            <a:r>
              <a:rPr lang="en-US" sz="1200">
                <a:solidFill>
                  <a:srgbClr val="000000"/>
                </a:solidFill>
                <a:latin typeface="Calibri" panose="020F0502020204030204" pitchFamily="34" charset="0"/>
              </a:rPr>
              <a:t>: Moving from a 'Monthly Bill' to a 'Wealth Building' strategy.</a:t>
            </a:r>
          </a:p>
          <a:p>
            <a:pPr>
              <a:spcBef>
                <a:spcPts val="1000"/>
              </a:spcBef>
            </a:pPr>
            <a:r>
              <a:rPr lang="en-US" sz="1200">
                <a:solidFill>
                  <a:srgbClr val="000000"/>
                </a:solidFill>
                <a:latin typeface="Calibri" panose="020F0502020204030204" pitchFamily="34" charset="0"/>
              </a:rPr>
              <a:t>• Defining your #1 priority: Protection, Growth, or </a:t>
            </a:r>
            <a:r>
              <a:rPr lang="en-US" sz="1200" b="1">
                <a:solidFill>
                  <a:srgbClr val="000000"/>
                </a:solidFill>
                <a:latin typeface="Calibri" panose="020F0502020204030204" pitchFamily="34" charset="0"/>
              </a:rPr>
              <a:t>Tax-Free Retirement</a:t>
            </a:r>
            <a:r>
              <a:rPr lang="en-US" sz="1200">
                <a:solidFill>
                  <a:srgbClr val="000000"/>
                </a:solidFill>
                <a:latin typeface="Calibri" panose="020F0502020204030204" pitchFamily="34" charset="0"/>
              </a:rPr>
              <a:t>?</a:t>
            </a:r>
          </a:p>
        </p:txBody>
      </p:sp>
      <p:sp>
        <p:nvSpPr>
          <p:cNvPr id="5" name="Cylinder 4">
            <a:hlinkClick r:id="" action="ppaction://hlinkshowjump?jump=firstslide"/>
            <a:extLst>
              <a:ext uri="{FF2B5EF4-FFF2-40B4-BE49-F238E27FC236}">
                <a16:creationId xmlns:a16="http://schemas.microsoft.com/office/drawing/2014/main" id="{98973C05-0D4C-C5AA-3076-E9731C5BFC61}"/>
              </a:ext>
            </a:extLst>
          </p:cNvPr>
          <p:cNvSpPr/>
          <p:nvPr/>
        </p:nvSpPr>
        <p:spPr>
          <a:xfrm>
            <a:off x="254000" y="6350000"/>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t>BACK</a:t>
            </a:r>
          </a:p>
        </p:txBody>
      </p:sp>
      <p:sp>
        <p:nvSpPr>
          <p:cNvPr id="7" name="Date Placeholder 6">
            <a:extLst>
              <a:ext uri="{FF2B5EF4-FFF2-40B4-BE49-F238E27FC236}">
                <a16:creationId xmlns:a16="http://schemas.microsoft.com/office/drawing/2014/main" id="{4F34CAE7-0299-D7E6-8100-88925A31FAD1}"/>
              </a:ext>
            </a:extLst>
          </p:cNvPr>
          <p:cNvSpPr>
            <a:spLocks noGrp="1"/>
          </p:cNvSpPr>
          <p:nvPr>
            <p:ph type="dt" sz="half" idx="10"/>
          </p:nvPr>
        </p:nvSpPr>
        <p:spPr/>
        <p:txBody>
          <a:bodyPr/>
          <a:lstStyle/>
          <a:p>
            <a:fld id="{564B958F-74A8-43A2-AD14-A7257E568302}" type="datetime1">
              <a:rPr lang="en-US" smtClean="0"/>
              <a:t>3/31/2026</a:t>
            </a:fld>
            <a:endParaRPr lang="en-US"/>
          </a:p>
        </p:txBody>
      </p:sp>
      <p:sp>
        <p:nvSpPr>
          <p:cNvPr id="10" name="Footer Placeholder 9">
            <a:extLst>
              <a:ext uri="{FF2B5EF4-FFF2-40B4-BE49-F238E27FC236}">
                <a16:creationId xmlns:a16="http://schemas.microsoft.com/office/drawing/2014/main" id="{8335CB37-E569-F012-4F56-3DD2876178D0}"/>
              </a:ext>
            </a:extLst>
          </p:cNvPr>
          <p:cNvSpPr>
            <a:spLocks noGrp="1"/>
          </p:cNvSpPr>
          <p:nvPr>
            <p:ph type="ftr" sz="quarter" idx="11"/>
          </p:nvPr>
        </p:nvSpPr>
        <p:spPr/>
        <p:txBody>
          <a:bodyPr/>
          <a:lstStyle/>
          <a:p>
            <a:r>
              <a:rPr lang="en-US"/>
              <a:t>Presenter: Sarojini Pokhrel, WFG</a:t>
            </a:r>
          </a:p>
        </p:txBody>
      </p:sp>
      <p:sp>
        <p:nvSpPr>
          <p:cNvPr id="11" name="Slide Number Placeholder 10">
            <a:extLst>
              <a:ext uri="{FF2B5EF4-FFF2-40B4-BE49-F238E27FC236}">
                <a16:creationId xmlns:a16="http://schemas.microsoft.com/office/drawing/2014/main" id="{6882E336-6420-1BAF-552D-EC84F1E321C7}"/>
              </a:ext>
            </a:extLst>
          </p:cNvPr>
          <p:cNvSpPr>
            <a:spLocks noGrp="1"/>
          </p:cNvSpPr>
          <p:nvPr>
            <p:ph type="sldNum" sz="quarter" idx="12"/>
          </p:nvPr>
        </p:nvSpPr>
        <p:spPr/>
        <p:txBody>
          <a:bodyPr/>
          <a:lstStyle/>
          <a:p>
            <a:fld id="{ED87AB4C-FC3A-4E15-BC9A-3395C324A7AE}" type="slidenum">
              <a:rPr lang="en-US" smtClean="0"/>
              <a:t>2</a:t>
            </a:fld>
            <a:endParaRPr lang="en-US"/>
          </a:p>
        </p:txBody>
      </p:sp>
      <p:sp>
        <p:nvSpPr>
          <p:cNvPr id="12" name="Cylinder 11">
            <a:hlinkClick r:id="" action="ppaction://hlinkshowjump?jump=firstslide"/>
            <a:extLst>
              <a:ext uri="{FF2B5EF4-FFF2-40B4-BE49-F238E27FC236}">
                <a16:creationId xmlns:a16="http://schemas.microsoft.com/office/drawing/2014/main" id="{9B4474F9-12CF-906A-41C7-F3989BF92877}"/>
              </a:ext>
            </a:extLst>
          </p:cNvPr>
          <p:cNvSpPr/>
          <p:nvPr/>
        </p:nvSpPr>
        <p:spPr>
          <a:xfrm>
            <a:off x="895350"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t>BACK</a:t>
            </a:r>
          </a:p>
        </p:txBody>
      </p:sp>
      <p:sp>
        <p:nvSpPr>
          <p:cNvPr id="13" name="Cylinder 12">
            <a:hlinkClick r:id="" action="ppaction://hlinkshowjump?jump=nextslide"/>
            <a:extLst>
              <a:ext uri="{FF2B5EF4-FFF2-40B4-BE49-F238E27FC236}">
                <a16:creationId xmlns:a16="http://schemas.microsoft.com/office/drawing/2014/main" id="{E1004387-11AA-97AE-412F-A7431398A134}"/>
              </a:ext>
            </a:extLst>
          </p:cNvPr>
          <p:cNvSpPr/>
          <p:nvPr/>
        </p:nvSpPr>
        <p:spPr>
          <a:xfrm>
            <a:off x="7681433"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a:t>
            </a:r>
          </a:p>
        </p:txBody>
      </p:sp>
      <p:pic>
        <p:nvPicPr>
          <p:cNvPr id="6" name="Picture 5">
            <a:extLst>
              <a:ext uri="{FF2B5EF4-FFF2-40B4-BE49-F238E27FC236}">
                <a16:creationId xmlns:a16="http://schemas.microsoft.com/office/drawing/2014/main" id="{EC7474CA-983D-BCED-EA1B-857FD7F42B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47303" cy="698202"/>
          </a:xfrm>
          <a:prstGeom prst="rect">
            <a:avLst/>
          </a:prstGeom>
        </p:spPr>
      </p:pic>
      <p:pic>
        <p:nvPicPr>
          <p:cNvPr id="9" name="Picture 8">
            <a:extLst>
              <a:ext uri="{FF2B5EF4-FFF2-40B4-BE49-F238E27FC236}">
                <a16:creationId xmlns:a16="http://schemas.microsoft.com/office/drawing/2014/main" id="{B3014F50-C928-00B6-55A3-91E64EC7BC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2848" y="1165587"/>
            <a:ext cx="2810585" cy="2789830"/>
          </a:xfrm>
          <a:prstGeom prst="rect">
            <a:avLst/>
          </a:prstGeom>
        </p:spPr>
      </p:pic>
    </p:spTree>
    <p:extLst>
      <p:ext uri="{BB962C8B-B14F-4D97-AF65-F5344CB8AC3E}">
        <p14:creationId xmlns:p14="http://schemas.microsoft.com/office/powerpoint/2010/main" val="3302102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FBA73C-6691-EA6B-FFB1-C73922EB271E}"/>
              </a:ext>
            </a:extLst>
          </p:cNvPr>
          <p:cNvSpPr txBox="1"/>
          <p:nvPr/>
        </p:nvSpPr>
        <p:spPr>
          <a:xfrm>
            <a:off x="587908" y="593695"/>
            <a:ext cx="10922000" cy="584775"/>
          </a:xfrm>
          <a:prstGeom prst="rect">
            <a:avLst/>
          </a:prstGeom>
          <a:noFill/>
        </p:spPr>
        <p:txBody>
          <a:bodyPr vert="horz" rtlCol="0">
            <a:spAutoFit/>
          </a:bodyPr>
          <a:lstStyle>
            <a:defPPr>
              <a:defRPr lang="en-US"/>
            </a:defPPr>
            <a:lvl1pPr>
              <a:defRPr sz="3200" b="1">
                <a:solidFill>
                  <a:srgbClr val="002060"/>
                </a:solidFill>
                <a:latin typeface="Arial" panose="020B0604020202020204" pitchFamily="34" charset="0"/>
              </a:defRPr>
            </a:lvl1pPr>
          </a:lstStyle>
          <a:p>
            <a:r>
              <a:rPr lang="en-US" dirty="0"/>
              <a:t>Our Roadmap for Today</a:t>
            </a:r>
          </a:p>
        </p:txBody>
      </p:sp>
      <p:sp>
        <p:nvSpPr>
          <p:cNvPr id="3" name="TextBox 2">
            <a:extLst>
              <a:ext uri="{FF2B5EF4-FFF2-40B4-BE49-F238E27FC236}">
                <a16:creationId xmlns:a16="http://schemas.microsoft.com/office/drawing/2014/main" id="{71DD3B27-02A2-C160-B349-1693AD53C59B}"/>
              </a:ext>
            </a:extLst>
          </p:cNvPr>
          <p:cNvSpPr txBox="1"/>
          <p:nvPr/>
        </p:nvSpPr>
        <p:spPr>
          <a:xfrm>
            <a:off x="635000" y="1079500"/>
            <a:ext cx="10922000" cy="400110"/>
          </a:xfrm>
          <a:prstGeom prst="rect">
            <a:avLst/>
          </a:prstGeom>
          <a:noFill/>
        </p:spPr>
        <p:txBody>
          <a:bodyPr vert="horz" rtlCol="0">
            <a:spAutoFit/>
          </a:bodyPr>
          <a:lstStyle/>
          <a:p>
            <a:r>
              <a:rPr lang="en-US" sz="2000" b="1">
                <a:solidFill>
                  <a:srgbClr val="800080"/>
                </a:solidFill>
                <a:latin typeface="Arial" panose="020B0604020202020204" pitchFamily="34" charset="0"/>
              </a:rPr>
              <a:t>The 4 Pillars of a Secure Financial Future</a:t>
            </a:r>
          </a:p>
        </p:txBody>
      </p:sp>
      <p:sp>
        <p:nvSpPr>
          <p:cNvPr id="4" name="TextBox 3">
            <a:extLst>
              <a:ext uri="{FF2B5EF4-FFF2-40B4-BE49-F238E27FC236}">
                <a16:creationId xmlns:a16="http://schemas.microsoft.com/office/drawing/2014/main" id="{32D5DBAE-A6D1-546C-3F4A-F4C2F4945EF2}"/>
              </a:ext>
            </a:extLst>
          </p:cNvPr>
          <p:cNvSpPr txBox="1"/>
          <p:nvPr/>
        </p:nvSpPr>
        <p:spPr>
          <a:xfrm>
            <a:off x="762000" y="2032000"/>
            <a:ext cx="7874000" cy="1215717"/>
          </a:xfrm>
          <a:prstGeom prst="rect">
            <a:avLst/>
          </a:prstGeom>
          <a:noFill/>
        </p:spPr>
        <p:txBody>
          <a:bodyPr vert="horz" rtlCol="0">
            <a:spAutoFit/>
          </a:bodyPr>
          <a:lstStyle/>
          <a:p>
            <a:pPr>
              <a:spcBef>
                <a:spcPts val="1000"/>
              </a:spcBef>
            </a:pPr>
            <a:r>
              <a:rPr lang="en-US" sz="1200">
                <a:solidFill>
                  <a:srgbClr val="000000"/>
                </a:solidFill>
                <a:latin typeface="Calibri" panose="020F0502020204030204" pitchFamily="34" charset="0"/>
              </a:rPr>
              <a:t>• Identifying the Problems: The </a:t>
            </a:r>
            <a:r>
              <a:rPr lang="en-US" sz="1200" b="1">
                <a:solidFill>
                  <a:srgbClr val="000000"/>
                </a:solidFill>
                <a:latin typeface="Calibri" panose="020F0502020204030204" pitchFamily="34" charset="0"/>
              </a:rPr>
              <a:t>3 Silent Predators</a:t>
            </a:r>
            <a:r>
              <a:rPr lang="en-US" sz="1200">
                <a:solidFill>
                  <a:srgbClr val="000000"/>
                </a:solidFill>
                <a:latin typeface="Calibri" panose="020F0502020204030204" pitchFamily="34" charset="0"/>
              </a:rPr>
              <a:t> of your wealth.</a:t>
            </a:r>
          </a:p>
          <a:p>
            <a:pPr>
              <a:spcBef>
                <a:spcPts val="1000"/>
              </a:spcBef>
            </a:pPr>
            <a:r>
              <a:rPr lang="en-US" sz="1200">
                <a:solidFill>
                  <a:srgbClr val="000000"/>
                </a:solidFill>
                <a:latin typeface="Calibri" panose="020F0502020204030204" pitchFamily="34" charset="0"/>
              </a:rPr>
              <a:t>• Introducing the Partners: The strength of </a:t>
            </a:r>
            <a:r>
              <a:rPr lang="en-US" sz="1200" b="1">
                <a:solidFill>
                  <a:srgbClr val="000000"/>
                </a:solidFill>
                <a:latin typeface="Calibri" panose="020F0502020204030204" pitchFamily="34" charset="0"/>
              </a:rPr>
              <a:t>WFG</a:t>
            </a:r>
            <a:r>
              <a:rPr lang="en-US" sz="1200">
                <a:solidFill>
                  <a:srgbClr val="000000"/>
                </a:solidFill>
                <a:latin typeface="Calibri" panose="020F0502020204030204" pitchFamily="34" charset="0"/>
              </a:rPr>
              <a:t> and </a:t>
            </a:r>
            <a:r>
              <a:rPr lang="en-US" sz="1200" b="1">
                <a:solidFill>
                  <a:srgbClr val="000000"/>
                </a:solidFill>
                <a:latin typeface="Calibri" panose="020F0502020204030204" pitchFamily="34" charset="0"/>
              </a:rPr>
              <a:t>Transamerica</a:t>
            </a:r>
            <a:r>
              <a:rPr lang="en-US" sz="1200">
                <a:solidFill>
                  <a:srgbClr val="000000"/>
                </a:solidFill>
                <a:latin typeface="Calibri" panose="020F0502020204030204" pitchFamily="34" charset="0"/>
              </a:rPr>
              <a:t>.</a:t>
            </a:r>
          </a:p>
          <a:p>
            <a:pPr>
              <a:spcBef>
                <a:spcPts val="1000"/>
              </a:spcBef>
            </a:pPr>
            <a:r>
              <a:rPr lang="en-US" sz="1200">
                <a:solidFill>
                  <a:srgbClr val="000000"/>
                </a:solidFill>
                <a:latin typeface="Calibri" panose="020F0502020204030204" pitchFamily="34" charset="0"/>
              </a:rPr>
              <a:t>• Exploring the Solution: How the </a:t>
            </a:r>
            <a:r>
              <a:rPr lang="en-US" sz="1200" b="1">
                <a:solidFill>
                  <a:srgbClr val="000000"/>
                </a:solidFill>
                <a:latin typeface="Calibri" panose="020F0502020204030204" pitchFamily="34" charset="0"/>
              </a:rPr>
              <a:t>Indexed Universal Life</a:t>
            </a:r>
            <a:r>
              <a:rPr lang="en-US" sz="1200">
                <a:solidFill>
                  <a:srgbClr val="000000"/>
                </a:solidFill>
                <a:latin typeface="Calibri" panose="020F0502020204030204" pitchFamily="34" charset="0"/>
              </a:rPr>
              <a:t> (</a:t>
            </a:r>
            <a:r>
              <a:rPr lang="en-US" sz="1200" b="1">
                <a:solidFill>
                  <a:srgbClr val="000000"/>
                </a:solidFill>
                <a:latin typeface="Calibri" panose="020F0502020204030204" pitchFamily="34" charset="0"/>
              </a:rPr>
              <a:t>IUL</a:t>
            </a:r>
            <a:r>
              <a:rPr lang="en-US" sz="1200">
                <a:solidFill>
                  <a:srgbClr val="000000"/>
                </a:solidFill>
                <a:latin typeface="Calibri" panose="020F0502020204030204" pitchFamily="34" charset="0"/>
              </a:rPr>
              <a:t>) works.</a:t>
            </a:r>
          </a:p>
          <a:p>
            <a:pPr>
              <a:spcBef>
                <a:spcPts val="1000"/>
              </a:spcBef>
            </a:pPr>
            <a:r>
              <a:rPr lang="en-US" sz="1200">
                <a:solidFill>
                  <a:srgbClr val="000000"/>
                </a:solidFill>
                <a:latin typeface="Calibri" panose="020F0502020204030204" pitchFamily="34" charset="0"/>
              </a:rPr>
              <a:t>• Taking Strategic Action: Securing yourself and your children today.</a:t>
            </a:r>
          </a:p>
        </p:txBody>
      </p:sp>
      <p:sp>
        <p:nvSpPr>
          <p:cNvPr id="7" name="Date Placeholder 6">
            <a:extLst>
              <a:ext uri="{FF2B5EF4-FFF2-40B4-BE49-F238E27FC236}">
                <a16:creationId xmlns:a16="http://schemas.microsoft.com/office/drawing/2014/main" id="{3AA50881-CCFA-8017-2D54-C4AC47E3ED99}"/>
              </a:ext>
            </a:extLst>
          </p:cNvPr>
          <p:cNvSpPr>
            <a:spLocks noGrp="1"/>
          </p:cNvSpPr>
          <p:nvPr>
            <p:ph type="dt" sz="half" idx="10"/>
          </p:nvPr>
        </p:nvSpPr>
        <p:spPr/>
        <p:txBody>
          <a:bodyPr/>
          <a:lstStyle/>
          <a:p>
            <a:fld id="{E1368481-281C-4E6C-9E87-3EC42A9607B6}" type="datetime1">
              <a:rPr lang="en-US" smtClean="0"/>
              <a:t>3/31/2026</a:t>
            </a:fld>
            <a:endParaRPr lang="en-US"/>
          </a:p>
        </p:txBody>
      </p:sp>
      <p:sp>
        <p:nvSpPr>
          <p:cNvPr id="9" name="Footer Placeholder 8">
            <a:extLst>
              <a:ext uri="{FF2B5EF4-FFF2-40B4-BE49-F238E27FC236}">
                <a16:creationId xmlns:a16="http://schemas.microsoft.com/office/drawing/2014/main" id="{8476E577-8300-1D6B-8653-75ADFF291971}"/>
              </a:ext>
            </a:extLst>
          </p:cNvPr>
          <p:cNvSpPr>
            <a:spLocks noGrp="1"/>
          </p:cNvSpPr>
          <p:nvPr>
            <p:ph type="ftr" sz="quarter" idx="11"/>
          </p:nvPr>
        </p:nvSpPr>
        <p:spPr/>
        <p:txBody>
          <a:bodyPr/>
          <a:lstStyle/>
          <a:p>
            <a:r>
              <a:rPr lang="en-US"/>
              <a:t>Presenter: Sarojini Pokhrel, WFG</a:t>
            </a:r>
          </a:p>
        </p:txBody>
      </p:sp>
      <p:sp>
        <p:nvSpPr>
          <p:cNvPr id="10" name="Slide Number Placeholder 9">
            <a:extLst>
              <a:ext uri="{FF2B5EF4-FFF2-40B4-BE49-F238E27FC236}">
                <a16:creationId xmlns:a16="http://schemas.microsoft.com/office/drawing/2014/main" id="{3EF99025-086A-9B11-D976-B8DC71C83242}"/>
              </a:ext>
            </a:extLst>
          </p:cNvPr>
          <p:cNvSpPr>
            <a:spLocks noGrp="1"/>
          </p:cNvSpPr>
          <p:nvPr>
            <p:ph type="sldNum" sz="quarter" idx="12"/>
          </p:nvPr>
        </p:nvSpPr>
        <p:spPr/>
        <p:txBody>
          <a:bodyPr/>
          <a:lstStyle/>
          <a:p>
            <a:fld id="{ED87AB4C-FC3A-4E15-BC9A-3395C324A7AE}" type="slidenum">
              <a:rPr lang="en-US" smtClean="0"/>
              <a:t>3</a:t>
            </a:fld>
            <a:endParaRPr lang="en-US"/>
          </a:p>
        </p:txBody>
      </p:sp>
      <p:sp>
        <p:nvSpPr>
          <p:cNvPr id="11" name="Cylinder 10">
            <a:hlinkClick r:id="" action="ppaction://hlinkshowjump?jump=firstslide"/>
            <a:extLst>
              <a:ext uri="{FF2B5EF4-FFF2-40B4-BE49-F238E27FC236}">
                <a16:creationId xmlns:a16="http://schemas.microsoft.com/office/drawing/2014/main" id="{268EE698-CF26-790D-4BE7-5B60B90FD628}"/>
              </a:ext>
            </a:extLst>
          </p:cNvPr>
          <p:cNvSpPr/>
          <p:nvPr/>
        </p:nvSpPr>
        <p:spPr>
          <a:xfrm>
            <a:off x="895350"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t>BACK</a:t>
            </a:r>
          </a:p>
        </p:txBody>
      </p:sp>
      <p:sp>
        <p:nvSpPr>
          <p:cNvPr id="12" name="Cylinder 11">
            <a:hlinkClick r:id="" action="ppaction://hlinkshowjump?jump=nextslide"/>
            <a:extLst>
              <a:ext uri="{FF2B5EF4-FFF2-40B4-BE49-F238E27FC236}">
                <a16:creationId xmlns:a16="http://schemas.microsoft.com/office/drawing/2014/main" id="{54FCC251-18C4-361C-68AC-61328F6FB8F7}"/>
              </a:ext>
            </a:extLst>
          </p:cNvPr>
          <p:cNvSpPr/>
          <p:nvPr/>
        </p:nvSpPr>
        <p:spPr>
          <a:xfrm>
            <a:off x="7681433"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a:t>
            </a:r>
          </a:p>
        </p:txBody>
      </p:sp>
      <p:pic>
        <p:nvPicPr>
          <p:cNvPr id="5" name="Picture 4">
            <a:extLst>
              <a:ext uri="{FF2B5EF4-FFF2-40B4-BE49-F238E27FC236}">
                <a16:creationId xmlns:a16="http://schemas.microsoft.com/office/drawing/2014/main" id="{EECB0723-0128-B6EF-0991-88DFF2E71A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47303" cy="698202"/>
          </a:xfrm>
          <a:prstGeom prst="rect">
            <a:avLst/>
          </a:prstGeom>
        </p:spPr>
      </p:pic>
      <p:pic>
        <p:nvPicPr>
          <p:cNvPr id="8" name="Picture 7">
            <a:extLst>
              <a:ext uri="{FF2B5EF4-FFF2-40B4-BE49-F238E27FC236}">
                <a16:creationId xmlns:a16="http://schemas.microsoft.com/office/drawing/2014/main" id="{5CA31617-C483-59D7-4233-7A313E3A20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8890" y="1623617"/>
            <a:ext cx="3080740" cy="1682854"/>
          </a:xfrm>
          <a:prstGeom prst="rect">
            <a:avLst/>
          </a:prstGeom>
        </p:spPr>
      </p:pic>
    </p:spTree>
    <p:extLst>
      <p:ext uri="{BB962C8B-B14F-4D97-AF65-F5344CB8AC3E}">
        <p14:creationId xmlns:p14="http://schemas.microsoft.com/office/powerpoint/2010/main" val="480680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F651CB-2F90-E828-B2A7-E3A8526E2715}"/>
              </a:ext>
            </a:extLst>
          </p:cNvPr>
          <p:cNvSpPr txBox="1"/>
          <p:nvPr/>
        </p:nvSpPr>
        <p:spPr>
          <a:xfrm>
            <a:off x="628650" y="568514"/>
            <a:ext cx="10922000" cy="584775"/>
          </a:xfrm>
          <a:prstGeom prst="rect">
            <a:avLst/>
          </a:prstGeom>
          <a:noFill/>
        </p:spPr>
        <p:txBody>
          <a:bodyPr vert="horz" rtlCol="0">
            <a:spAutoFit/>
          </a:bodyPr>
          <a:lstStyle>
            <a:defPPr>
              <a:defRPr lang="en-US"/>
            </a:defPPr>
            <a:lvl1pPr>
              <a:defRPr sz="3200" b="1">
                <a:solidFill>
                  <a:srgbClr val="002060"/>
                </a:solidFill>
                <a:latin typeface="Arial" panose="020B0604020202020204" pitchFamily="34" charset="0"/>
              </a:defRPr>
            </a:lvl1pPr>
          </a:lstStyle>
          <a:p>
            <a:r>
              <a:rPr lang="en-US" dirty="0"/>
              <a:t>Why Traditional Planning Fails</a:t>
            </a:r>
          </a:p>
        </p:txBody>
      </p:sp>
      <p:sp>
        <p:nvSpPr>
          <p:cNvPr id="3" name="TextBox 2">
            <a:extLst>
              <a:ext uri="{FF2B5EF4-FFF2-40B4-BE49-F238E27FC236}">
                <a16:creationId xmlns:a16="http://schemas.microsoft.com/office/drawing/2014/main" id="{3B7523F7-F709-8D62-405E-FE4E596B6967}"/>
              </a:ext>
            </a:extLst>
          </p:cNvPr>
          <p:cNvSpPr txBox="1"/>
          <p:nvPr/>
        </p:nvSpPr>
        <p:spPr>
          <a:xfrm>
            <a:off x="635000" y="1079500"/>
            <a:ext cx="10922000" cy="400110"/>
          </a:xfrm>
          <a:prstGeom prst="rect">
            <a:avLst/>
          </a:prstGeom>
          <a:noFill/>
        </p:spPr>
        <p:txBody>
          <a:bodyPr vert="horz" rtlCol="0">
            <a:spAutoFit/>
          </a:bodyPr>
          <a:lstStyle/>
          <a:p>
            <a:r>
              <a:rPr lang="en-US" sz="2000" b="1" dirty="0">
                <a:solidFill>
                  <a:srgbClr val="800080"/>
                </a:solidFill>
                <a:latin typeface="Arial" panose="020B0604020202020204" pitchFamily="34" charset="0"/>
              </a:rPr>
              <a:t>The Three Silent Predators of Wealth</a:t>
            </a:r>
          </a:p>
        </p:txBody>
      </p:sp>
      <p:sp>
        <p:nvSpPr>
          <p:cNvPr id="4" name="TextBox 3">
            <a:extLst>
              <a:ext uri="{FF2B5EF4-FFF2-40B4-BE49-F238E27FC236}">
                <a16:creationId xmlns:a16="http://schemas.microsoft.com/office/drawing/2014/main" id="{920A50B4-4A64-4170-0A3A-51E63FE9C066}"/>
              </a:ext>
            </a:extLst>
          </p:cNvPr>
          <p:cNvSpPr txBox="1"/>
          <p:nvPr/>
        </p:nvSpPr>
        <p:spPr>
          <a:xfrm>
            <a:off x="762000" y="2032000"/>
            <a:ext cx="7874000" cy="1215717"/>
          </a:xfrm>
          <a:prstGeom prst="rect">
            <a:avLst/>
          </a:prstGeom>
          <a:noFill/>
        </p:spPr>
        <p:txBody>
          <a:bodyPr vert="horz" rtlCol="0">
            <a:spAutoFit/>
          </a:bodyPr>
          <a:lstStyle/>
          <a:p>
            <a:pPr>
              <a:spcBef>
                <a:spcPts val="1000"/>
              </a:spcBef>
            </a:pPr>
            <a:r>
              <a:rPr lang="en-US" sz="1200">
                <a:solidFill>
                  <a:srgbClr val="000000"/>
                </a:solidFill>
                <a:latin typeface="Calibri" panose="020F0502020204030204" pitchFamily="34" charset="0"/>
              </a:rPr>
              <a:t>• </a:t>
            </a:r>
            <a:r>
              <a:rPr lang="en-US" sz="1200" b="1">
                <a:solidFill>
                  <a:srgbClr val="000000"/>
                </a:solidFill>
                <a:latin typeface="Calibri" panose="020F0502020204030204" pitchFamily="34" charset="0"/>
              </a:rPr>
              <a:t>Inflation</a:t>
            </a:r>
            <a:r>
              <a:rPr lang="en-US" sz="1200">
                <a:solidFill>
                  <a:srgbClr val="000000"/>
                </a:solidFill>
                <a:latin typeface="Calibri" panose="020F0502020204030204" pitchFamily="34" charset="0"/>
              </a:rPr>
              <a:t>: The silent thief that makes your dollar buy less every year.</a:t>
            </a:r>
          </a:p>
          <a:p>
            <a:pPr>
              <a:spcBef>
                <a:spcPts val="1000"/>
              </a:spcBef>
            </a:pPr>
            <a:r>
              <a:rPr lang="en-US" sz="1200">
                <a:solidFill>
                  <a:srgbClr val="000000"/>
                </a:solidFill>
                <a:latin typeface="Calibri" panose="020F0502020204030204" pitchFamily="34" charset="0"/>
              </a:rPr>
              <a:t>• </a:t>
            </a:r>
            <a:r>
              <a:rPr lang="en-US" sz="1200" b="1">
                <a:solidFill>
                  <a:srgbClr val="000000"/>
                </a:solidFill>
                <a:latin typeface="Calibri" panose="020F0502020204030204" pitchFamily="34" charset="0"/>
              </a:rPr>
              <a:t>Market Volatility</a:t>
            </a:r>
            <a:r>
              <a:rPr lang="en-US" sz="1200">
                <a:solidFill>
                  <a:srgbClr val="000000"/>
                </a:solidFill>
                <a:latin typeface="Calibri" panose="020F0502020204030204" pitchFamily="34" charset="0"/>
              </a:rPr>
              <a:t>: The 'Roller Coaster' effect where one crash resets your progress.</a:t>
            </a:r>
          </a:p>
          <a:p>
            <a:pPr>
              <a:spcBef>
                <a:spcPts val="1000"/>
              </a:spcBef>
            </a:pPr>
            <a:r>
              <a:rPr lang="en-US" sz="1200">
                <a:solidFill>
                  <a:srgbClr val="000000"/>
                </a:solidFill>
                <a:latin typeface="Calibri" panose="020F0502020204030204" pitchFamily="34" charset="0"/>
              </a:rPr>
              <a:t>• </a:t>
            </a:r>
            <a:r>
              <a:rPr lang="en-US" sz="1200" b="1">
                <a:solidFill>
                  <a:srgbClr val="000000"/>
                </a:solidFill>
                <a:latin typeface="Calibri" panose="020F0502020204030204" pitchFamily="34" charset="0"/>
              </a:rPr>
              <a:t>Taxation</a:t>
            </a:r>
            <a:r>
              <a:rPr lang="en-US" sz="1200">
                <a:solidFill>
                  <a:srgbClr val="000000"/>
                </a:solidFill>
                <a:latin typeface="Calibri" panose="020F0502020204030204" pitchFamily="34" charset="0"/>
              </a:rPr>
              <a:t>: The IRS is a partner in your savings that you didn't choose.</a:t>
            </a:r>
          </a:p>
          <a:p>
            <a:pPr>
              <a:spcBef>
                <a:spcPts val="1000"/>
              </a:spcBef>
            </a:pPr>
            <a:r>
              <a:rPr lang="en-US" sz="1200">
                <a:solidFill>
                  <a:srgbClr val="000000"/>
                </a:solidFill>
                <a:latin typeface="Calibri" panose="020F0502020204030204" pitchFamily="34" charset="0"/>
              </a:rPr>
              <a:t>• </a:t>
            </a:r>
            <a:r>
              <a:rPr lang="en-US" sz="1200" b="1">
                <a:solidFill>
                  <a:srgbClr val="000000"/>
                </a:solidFill>
                <a:latin typeface="Calibri" panose="020F0502020204030204" pitchFamily="34" charset="0"/>
              </a:rPr>
              <a:t>Risk of Inaction</a:t>
            </a:r>
            <a:r>
              <a:rPr lang="en-US" sz="1200">
                <a:solidFill>
                  <a:srgbClr val="000000"/>
                </a:solidFill>
                <a:latin typeface="Calibri" panose="020F0502020204030204" pitchFamily="34" charset="0"/>
              </a:rPr>
              <a:t>: The high price of doing nothing while time slips away.</a:t>
            </a:r>
          </a:p>
        </p:txBody>
      </p:sp>
      <p:sp>
        <p:nvSpPr>
          <p:cNvPr id="5" name="Cylinder 4">
            <a:hlinkClick r:id="" action="ppaction://hlinkshowjump?jump=firstslide"/>
            <a:extLst>
              <a:ext uri="{FF2B5EF4-FFF2-40B4-BE49-F238E27FC236}">
                <a16:creationId xmlns:a16="http://schemas.microsoft.com/office/drawing/2014/main" id="{BD0BE868-C5D6-46C8-213A-C735428F252C}"/>
              </a:ext>
            </a:extLst>
          </p:cNvPr>
          <p:cNvSpPr/>
          <p:nvPr/>
        </p:nvSpPr>
        <p:spPr>
          <a:xfrm>
            <a:off x="895350"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t>BACK</a:t>
            </a:r>
          </a:p>
        </p:txBody>
      </p:sp>
      <p:sp>
        <p:nvSpPr>
          <p:cNvPr id="6" name="Cylinder 5">
            <a:hlinkClick r:id="" action="ppaction://hlinkshowjump?jump=nextslide"/>
            <a:extLst>
              <a:ext uri="{FF2B5EF4-FFF2-40B4-BE49-F238E27FC236}">
                <a16:creationId xmlns:a16="http://schemas.microsoft.com/office/drawing/2014/main" id="{5C942F6D-D5CE-4DB3-8032-9D038B811DB9}"/>
              </a:ext>
            </a:extLst>
          </p:cNvPr>
          <p:cNvSpPr/>
          <p:nvPr/>
        </p:nvSpPr>
        <p:spPr>
          <a:xfrm>
            <a:off x="7681433"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a:t>
            </a:r>
          </a:p>
        </p:txBody>
      </p:sp>
      <p:sp>
        <p:nvSpPr>
          <p:cNvPr id="7" name="Date Placeholder 6">
            <a:extLst>
              <a:ext uri="{FF2B5EF4-FFF2-40B4-BE49-F238E27FC236}">
                <a16:creationId xmlns:a16="http://schemas.microsoft.com/office/drawing/2014/main" id="{3A08815E-45DB-A46D-9D8F-DB54BFD2E0E5}"/>
              </a:ext>
            </a:extLst>
          </p:cNvPr>
          <p:cNvSpPr>
            <a:spLocks noGrp="1"/>
          </p:cNvSpPr>
          <p:nvPr>
            <p:ph type="dt" sz="half" idx="10"/>
          </p:nvPr>
        </p:nvSpPr>
        <p:spPr/>
        <p:txBody>
          <a:bodyPr/>
          <a:lstStyle/>
          <a:p>
            <a:fld id="{FE1C34E3-92D9-46C7-AF61-274E483D4F5C}" type="datetime1">
              <a:rPr lang="en-US" smtClean="0"/>
              <a:t>3/31/2026</a:t>
            </a:fld>
            <a:endParaRPr lang="en-US"/>
          </a:p>
        </p:txBody>
      </p:sp>
      <p:sp>
        <p:nvSpPr>
          <p:cNvPr id="9" name="Footer Placeholder 8">
            <a:extLst>
              <a:ext uri="{FF2B5EF4-FFF2-40B4-BE49-F238E27FC236}">
                <a16:creationId xmlns:a16="http://schemas.microsoft.com/office/drawing/2014/main" id="{AF23F5E8-1424-4F38-5396-FD938DD85454}"/>
              </a:ext>
            </a:extLst>
          </p:cNvPr>
          <p:cNvSpPr>
            <a:spLocks noGrp="1"/>
          </p:cNvSpPr>
          <p:nvPr>
            <p:ph type="ftr" sz="quarter" idx="11"/>
          </p:nvPr>
        </p:nvSpPr>
        <p:spPr/>
        <p:txBody>
          <a:bodyPr/>
          <a:lstStyle/>
          <a:p>
            <a:r>
              <a:rPr lang="en-US"/>
              <a:t>Presenter: Sarojini Pokhrel, WFG</a:t>
            </a:r>
          </a:p>
        </p:txBody>
      </p:sp>
      <p:sp>
        <p:nvSpPr>
          <p:cNvPr id="10" name="Slide Number Placeholder 9">
            <a:extLst>
              <a:ext uri="{FF2B5EF4-FFF2-40B4-BE49-F238E27FC236}">
                <a16:creationId xmlns:a16="http://schemas.microsoft.com/office/drawing/2014/main" id="{5194FECD-2187-7241-B20E-E2E451D20546}"/>
              </a:ext>
            </a:extLst>
          </p:cNvPr>
          <p:cNvSpPr>
            <a:spLocks noGrp="1"/>
          </p:cNvSpPr>
          <p:nvPr>
            <p:ph type="sldNum" sz="quarter" idx="12"/>
          </p:nvPr>
        </p:nvSpPr>
        <p:spPr/>
        <p:txBody>
          <a:bodyPr/>
          <a:lstStyle/>
          <a:p>
            <a:fld id="{ED87AB4C-FC3A-4E15-BC9A-3395C324A7AE}" type="slidenum">
              <a:rPr lang="en-US" smtClean="0"/>
              <a:t>4</a:t>
            </a:fld>
            <a:endParaRPr lang="en-US"/>
          </a:p>
        </p:txBody>
      </p:sp>
      <p:pic>
        <p:nvPicPr>
          <p:cNvPr id="8" name="Picture 7">
            <a:extLst>
              <a:ext uri="{FF2B5EF4-FFF2-40B4-BE49-F238E27FC236}">
                <a16:creationId xmlns:a16="http://schemas.microsoft.com/office/drawing/2014/main" id="{D8B87B85-D489-AC02-BC6D-68D11FDEBE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047303" cy="698202"/>
          </a:xfrm>
          <a:prstGeom prst="rect">
            <a:avLst/>
          </a:prstGeom>
          <a:noFill/>
        </p:spPr>
      </p:pic>
      <p:pic>
        <p:nvPicPr>
          <p:cNvPr id="15" name="Picture 14">
            <a:extLst>
              <a:ext uri="{FF2B5EF4-FFF2-40B4-BE49-F238E27FC236}">
                <a16:creationId xmlns:a16="http://schemas.microsoft.com/office/drawing/2014/main" id="{65D2BDBF-6790-C304-2507-66A5A57CD7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89650" y="1825876"/>
            <a:ext cx="1972559" cy="1491748"/>
          </a:xfrm>
          <a:prstGeom prst="rect">
            <a:avLst/>
          </a:prstGeom>
        </p:spPr>
      </p:pic>
    </p:spTree>
    <p:extLst>
      <p:ext uri="{BB962C8B-B14F-4D97-AF65-F5344CB8AC3E}">
        <p14:creationId xmlns:p14="http://schemas.microsoft.com/office/powerpoint/2010/main" val="234492974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B06AEB0-DBBE-D884-B0C8-B5B2D1A93F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4651" y="1421372"/>
            <a:ext cx="1969031" cy="1033741"/>
          </a:xfrm>
          <a:prstGeom prst="rect">
            <a:avLst/>
          </a:prstGeom>
        </p:spPr>
      </p:pic>
      <p:pic>
        <p:nvPicPr>
          <p:cNvPr id="5" name="Picture 4">
            <a:extLst>
              <a:ext uri="{FF2B5EF4-FFF2-40B4-BE49-F238E27FC236}">
                <a16:creationId xmlns:a16="http://schemas.microsoft.com/office/drawing/2014/main" id="{2EF682E0-119C-7568-4592-EB3BF2AAB7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047303" cy="698202"/>
          </a:xfrm>
          <a:prstGeom prst="rect">
            <a:avLst/>
          </a:prstGeom>
        </p:spPr>
      </p:pic>
      <p:sp>
        <p:nvSpPr>
          <p:cNvPr id="2" name="TextBox 1">
            <a:extLst>
              <a:ext uri="{FF2B5EF4-FFF2-40B4-BE49-F238E27FC236}">
                <a16:creationId xmlns:a16="http://schemas.microsoft.com/office/drawing/2014/main" id="{2992784A-B1B3-8444-9F04-9855870F9EBE}"/>
              </a:ext>
            </a:extLst>
          </p:cNvPr>
          <p:cNvSpPr txBox="1"/>
          <p:nvPr/>
        </p:nvSpPr>
        <p:spPr>
          <a:xfrm>
            <a:off x="523651" y="593695"/>
            <a:ext cx="10922000" cy="584775"/>
          </a:xfrm>
          <a:prstGeom prst="rect">
            <a:avLst/>
          </a:prstGeom>
          <a:noFill/>
        </p:spPr>
        <p:txBody>
          <a:bodyPr vert="horz" rtlCol="0">
            <a:spAutoFit/>
          </a:bodyPr>
          <a:lstStyle/>
          <a:p>
            <a:r>
              <a:rPr lang="en-US" sz="3200" b="1" dirty="0">
                <a:solidFill>
                  <a:srgbClr val="002060"/>
                </a:solidFill>
                <a:latin typeface="Arial" panose="020B0604020202020204" pitchFamily="34" charset="0"/>
              </a:rPr>
              <a:t>The Power of the Partnership</a:t>
            </a:r>
          </a:p>
        </p:txBody>
      </p:sp>
      <p:sp>
        <p:nvSpPr>
          <p:cNvPr id="3" name="TextBox 2">
            <a:extLst>
              <a:ext uri="{FF2B5EF4-FFF2-40B4-BE49-F238E27FC236}">
                <a16:creationId xmlns:a16="http://schemas.microsoft.com/office/drawing/2014/main" id="{8A492585-33BF-AED7-A3EA-74279682EC3D}"/>
              </a:ext>
            </a:extLst>
          </p:cNvPr>
          <p:cNvSpPr txBox="1"/>
          <p:nvPr/>
        </p:nvSpPr>
        <p:spPr>
          <a:xfrm>
            <a:off x="635000" y="1079500"/>
            <a:ext cx="10922000" cy="400110"/>
          </a:xfrm>
          <a:prstGeom prst="rect">
            <a:avLst/>
          </a:prstGeom>
          <a:noFill/>
        </p:spPr>
        <p:txBody>
          <a:bodyPr vert="horz" rtlCol="0">
            <a:spAutoFit/>
          </a:bodyPr>
          <a:lstStyle/>
          <a:p>
            <a:r>
              <a:rPr lang="en-US" sz="2000" b="1">
                <a:solidFill>
                  <a:srgbClr val="800080"/>
                </a:solidFill>
                <a:latin typeface="Arial" panose="020B0604020202020204" pitchFamily="34" charset="0"/>
              </a:rPr>
              <a:t>World Financial Group &amp; Transamerica</a:t>
            </a:r>
          </a:p>
        </p:txBody>
      </p:sp>
      <p:sp>
        <p:nvSpPr>
          <p:cNvPr id="4" name="TextBox 3">
            <a:extLst>
              <a:ext uri="{FF2B5EF4-FFF2-40B4-BE49-F238E27FC236}">
                <a16:creationId xmlns:a16="http://schemas.microsoft.com/office/drawing/2014/main" id="{2D4885F3-1DBC-F546-61EF-37486F8D0820}"/>
              </a:ext>
            </a:extLst>
          </p:cNvPr>
          <p:cNvSpPr txBox="1"/>
          <p:nvPr/>
        </p:nvSpPr>
        <p:spPr>
          <a:xfrm>
            <a:off x="762000" y="2032000"/>
            <a:ext cx="7874000" cy="1215717"/>
          </a:xfrm>
          <a:prstGeom prst="rect">
            <a:avLst/>
          </a:prstGeom>
          <a:noFill/>
        </p:spPr>
        <p:txBody>
          <a:bodyPr vert="horz" rtlCol="0">
            <a:spAutoFit/>
          </a:bodyPr>
          <a:lstStyle/>
          <a:p>
            <a:pPr>
              <a:spcBef>
                <a:spcPts val="1000"/>
              </a:spcBef>
            </a:pPr>
            <a:r>
              <a:rPr lang="en-US" sz="1200">
                <a:solidFill>
                  <a:srgbClr val="000000"/>
                </a:solidFill>
                <a:latin typeface="Calibri" panose="020F0502020204030204" pitchFamily="34" charset="0"/>
              </a:rPr>
              <a:t>• </a:t>
            </a:r>
            <a:r>
              <a:rPr lang="en-US" sz="1200" b="1">
                <a:solidFill>
                  <a:srgbClr val="000000"/>
                </a:solidFill>
                <a:latin typeface="Calibri" panose="020F0502020204030204" pitchFamily="34" charset="0"/>
              </a:rPr>
              <a:t>WFG</a:t>
            </a:r>
            <a:r>
              <a:rPr lang="en-US" sz="1200">
                <a:solidFill>
                  <a:srgbClr val="000000"/>
                </a:solidFill>
                <a:latin typeface="Calibri" panose="020F0502020204030204" pitchFamily="34" charset="0"/>
              </a:rPr>
              <a:t>: A platform dedicated to bringing financial literacy to every household.</a:t>
            </a:r>
          </a:p>
          <a:p>
            <a:pPr>
              <a:spcBef>
                <a:spcPts val="1000"/>
              </a:spcBef>
            </a:pPr>
            <a:r>
              <a:rPr lang="en-US" sz="1200">
                <a:solidFill>
                  <a:srgbClr val="000000"/>
                </a:solidFill>
                <a:latin typeface="Calibri" panose="020F0502020204030204" pitchFamily="34" charset="0"/>
              </a:rPr>
              <a:t>• </a:t>
            </a:r>
            <a:r>
              <a:rPr lang="en-US" sz="1200" b="1">
                <a:solidFill>
                  <a:srgbClr val="000000"/>
                </a:solidFill>
                <a:latin typeface="Calibri" panose="020F0502020204030204" pitchFamily="34" charset="0"/>
              </a:rPr>
              <a:t>Transamerica</a:t>
            </a:r>
            <a:r>
              <a:rPr lang="en-US" sz="1200">
                <a:solidFill>
                  <a:srgbClr val="000000"/>
                </a:solidFill>
                <a:latin typeface="Calibri" panose="020F0502020204030204" pitchFamily="34" charset="0"/>
              </a:rPr>
              <a:t>: Over 100 years of </a:t>
            </a:r>
            <a:r>
              <a:rPr lang="en-US" sz="1200" b="1">
                <a:solidFill>
                  <a:srgbClr val="000000"/>
                </a:solidFill>
                <a:latin typeface="Calibri" panose="020F0502020204030204" pitchFamily="34" charset="0"/>
              </a:rPr>
              <a:t>Institutional-Grade</a:t>
            </a:r>
            <a:r>
              <a:rPr lang="en-US" sz="1200">
                <a:solidFill>
                  <a:srgbClr val="000000"/>
                </a:solidFill>
                <a:latin typeface="Calibri" panose="020F0502020204030204" pitchFamily="34" charset="0"/>
              </a:rPr>
              <a:t> Strength and </a:t>
            </a:r>
            <a:r>
              <a:rPr lang="en-US" sz="1200" b="1">
                <a:solidFill>
                  <a:srgbClr val="000000"/>
                </a:solidFill>
                <a:latin typeface="Calibri" panose="020F0502020204030204" pitchFamily="34" charset="0"/>
              </a:rPr>
              <a:t>Solvency</a:t>
            </a:r>
            <a:r>
              <a:rPr lang="en-US" sz="1200">
                <a:solidFill>
                  <a:srgbClr val="000000"/>
                </a:solidFill>
                <a:latin typeface="Calibri" panose="020F0502020204030204" pitchFamily="34" charset="0"/>
              </a:rPr>
              <a:t>.</a:t>
            </a:r>
          </a:p>
          <a:p>
            <a:pPr>
              <a:spcBef>
                <a:spcPts val="1000"/>
              </a:spcBef>
            </a:pPr>
            <a:r>
              <a:rPr lang="en-US" sz="1200">
                <a:solidFill>
                  <a:srgbClr val="000000"/>
                </a:solidFill>
                <a:latin typeface="Calibri" panose="020F0502020204030204" pitchFamily="34" charset="0"/>
              </a:rPr>
              <a:t>• Main Street Access: Elite Wall Street strategies made simple for your family.</a:t>
            </a:r>
          </a:p>
          <a:p>
            <a:pPr>
              <a:spcBef>
                <a:spcPts val="1000"/>
              </a:spcBef>
            </a:pPr>
            <a:r>
              <a:rPr lang="en-US" sz="1200">
                <a:solidFill>
                  <a:srgbClr val="000000"/>
                </a:solidFill>
                <a:latin typeface="Calibri" panose="020F0502020204030204" pitchFamily="34" charset="0"/>
              </a:rPr>
              <a:t>• </a:t>
            </a:r>
            <a:r>
              <a:rPr lang="en-US" sz="1200" b="1">
                <a:solidFill>
                  <a:srgbClr val="000000"/>
                </a:solidFill>
                <a:latin typeface="Calibri" panose="020F0502020204030204" pitchFamily="34" charset="0"/>
              </a:rPr>
              <a:t>Peace of Mind</a:t>
            </a:r>
            <a:r>
              <a:rPr lang="en-US" sz="1200">
                <a:solidFill>
                  <a:srgbClr val="000000"/>
                </a:solidFill>
                <a:latin typeface="Calibri" panose="020F0502020204030204" pitchFamily="34" charset="0"/>
              </a:rPr>
              <a:t>: Backed by a company with billions in assets and proven history.</a:t>
            </a:r>
          </a:p>
        </p:txBody>
      </p:sp>
      <p:sp>
        <p:nvSpPr>
          <p:cNvPr id="7" name="Date Placeholder 6">
            <a:extLst>
              <a:ext uri="{FF2B5EF4-FFF2-40B4-BE49-F238E27FC236}">
                <a16:creationId xmlns:a16="http://schemas.microsoft.com/office/drawing/2014/main" id="{12A7B23B-D700-F105-2C75-89C2685140ED}"/>
              </a:ext>
            </a:extLst>
          </p:cNvPr>
          <p:cNvSpPr>
            <a:spLocks noGrp="1"/>
          </p:cNvSpPr>
          <p:nvPr>
            <p:ph type="dt" sz="half" idx="10"/>
          </p:nvPr>
        </p:nvSpPr>
        <p:spPr/>
        <p:txBody>
          <a:bodyPr/>
          <a:lstStyle/>
          <a:p>
            <a:fld id="{003BEBA8-E55D-4B05-9F8D-FDFBC6C96D19}" type="datetime1">
              <a:rPr lang="en-US" smtClean="0"/>
              <a:t>3/31/2026</a:t>
            </a:fld>
            <a:endParaRPr lang="en-US"/>
          </a:p>
        </p:txBody>
      </p:sp>
      <p:sp>
        <p:nvSpPr>
          <p:cNvPr id="9" name="Footer Placeholder 8">
            <a:extLst>
              <a:ext uri="{FF2B5EF4-FFF2-40B4-BE49-F238E27FC236}">
                <a16:creationId xmlns:a16="http://schemas.microsoft.com/office/drawing/2014/main" id="{E7773071-90E1-6F99-C573-AA6A04E15AAC}"/>
              </a:ext>
            </a:extLst>
          </p:cNvPr>
          <p:cNvSpPr>
            <a:spLocks noGrp="1"/>
          </p:cNvSpPr>
          <p:nvPr>
            <p:ph type="ftr" sz="quarter" idx="11"/>
          </p:nvPr>
        </p:nvSpPr>
        <p:spPr/>
        <p:txBody>
          <a:bodyPr/>
          <a:lstStyle/>
          <a:p>
            <a:r>
              <a:rPr lang="en-US"/>
              <a:t>Presenter: Sarojini Pokhrel, WFG</a:t>
            </a:r>
          </a:p>
        </p:txBody>
      </p:sp>
      <p:sp>
        <p:nvSpPr>
          <p:cNvPr id="10" name="Slide Number Placeholder 9">
            <a:extLst>
              <a:ext uri="{FF2B5EF4-FFF2-40B4-BE49-F238E27FC236}">
                <a16:creationId xmlns:a16="http://schemas.microsoft.com/office/drawing/2014/main" id="{0C23F506-7166-1492-6AA5-8052E3A871D6}"/>
              </a:ext>
            </a:extLst>
          </p:cNvPr>
          <p:cNvSpPr>
            <a:spLocks noGrp="1"/>
          </p:cNvSpPr>
          <p:nvPr>
            <p:ph type="sldNum" sz="quarter" idx="12"/>
          </p:nvPr>
        </p:nvSpPr>
        <p:spPr/>
        <p:txBody>
          <a:bodyPr/>
          <a:lstStyle/>
          <a:p>
            <a:fld id="{ED87AB4C-FC3A-4E15-BC9A-3395C324A7AE}" type="slidenum">
              <a:rPr lang="en-US" smtClean="0"/>
              <a:t>5</a:t>
            </a:fld>
            <a:endParaRPr lang="en-US"/>
          </a:p>
        </p:txBody>
      </p:sp>
      <p:sp>
        <p:nvSpPr>
          <p:cNvPr id="11" name="Cylinder 10">
            <a:hlinkClick r:id="" action="ppaction://hlinkshowjump?jump=firstslide"/>
            <a:extLst>
              <a:ext uri="{FF2B5EF4-FFF2-40B4-BE49-F238E27FC236}">
                <a16:creationId xmlns:a16="http://schemas.microsoft.com/office/drawing/2014/main" id="{0CB164FE-1F53-6285-7543-66E0E9FAEA35}"/>
              </a:ext>
            </a:extLst>
          </p:cNvPr>
          <p:cNvSpPr/>
          <p:nvPr/>
        </p:nvSpPr>
        <p:spPr>
          <a:xfrm>
            <a:off x="895350"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t>BACK</a:t>
            </a:r>
          </a:p>
        </p:txBody>
      </p:sp>
      <p:sp>
        <p:nvSpPr>
          <p:cNvPr id="12" name="Cylinder 11">
            <a:hlinkClick r:id="" action="ppaction://hlinkshowjump?jump=nextslide"/>
            <a:extLst>
              <a:ext uri="{FF2B5EF4-FFF2-40B4-BE49-F238E27FC236}">
                <a16:creationId xmlns:a16="http://schemas.microsoft.com/office/drawing/2014/main" id="{6D3B2828-CE4B-21DA-2AF6-4A161EA34ECC}"/>
              </a:ext>
            </a:extLst>
          </p:cNvPr>
          <p:cNvSpPr/>
          <p:nvPr/>
        </p:nvSpPr>
        <p:spPr>
          <a:xfrm>
            <a:off x="7681433"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a:t>
            </a:r>
          </a:p>
        </p:txBody>
      </p:sp>
      <p:pic>
        <p:nvPicPr>
          <p:cNvPr id="8" name="Picture 7">
            <a:extLst>
              <a:ext uri="{FF2B5EF4-FFF2-40B4-BE49-F238E27FC236}">
                <a16:creationId xmlns:a16="http://schemas.microsoft.com/office/drawing/2014/main" id="{80AEC519-D77C-9491-B76A-72A7A233BB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5073" y="2435280"/>
            <a:ext cx="2004891" cy="1127751"/>
          </a:xfrm>
          <a:prstGeom prst="rect">
            <a:avLst/>
          </a:prstGeom>
        </p:spPr>
      </p:pic>
    </p:spTree>
    <p:extLst>
      <p:ext uri="{BB962C8B-B14F-4D97-AF65-F5344CB8AC3E}">
        <p14:creationId xmlns:p14="http://schemas.microsoft.com/office/powerpoint/2010/main" val="1525355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65E9FC-A51A-17C1-9E1D-7446F3A746AC}"/>
              </a:ext>
            </a:extLst>
          </p:cNvPr>
          <p:cNvSpPr txBox="1"/>
          <p:nvPr/>
        </p:nvSpPr>
        <p:spPr>
          <a:xfrm>
            <a:off x="628650" y="568514"/>
            <a:ext cx="10922000" cy="584775"/>
          </a:xfrm>
          <a:prstGeom prst="rect">
            <a:avLst/>
          </a:prstGeom>
          <a:noFill/>
        </p:spPr>
        <p:txBody>
          <a:bodyPr vert="horz" rtlCol="0">
            <a:spAutoFit/>
          </a:bodyPr>
          <a:lstStyle/>
          <a:p>
            <a:r>
              <a:rPr lang="en-US" sz="3200" b="1" dirty="0">
                <a:solidFill>
                  <a:srgbClr val="002060"/>
                </a:solidFill>
                <a:latin typeface="Arial" panose="020B0604020202020204" pitchFamily="34" charset="0"/>
              </a:rPr>
              <a:t>The Indexed Universal Life (IUL)</a:t>
            </a:r>
          </a:p>
        </p:txBody>
      </p:sp>
      <p:sp>
        <p:nvSpPr>
          <p:cNvPr id="3" name="TextBox 2">
            <a:extLst>
              <a:ext uri="{FF2B5EF4-FFF2-40B4-BE49-F238E27FC236}">
                <a16:creationId xmlns:a16="http://schemas.microsoft.com/office/drawing/2014/main" id="{671EC3B5-A495-FDDB-8570-1066EBEB26B0}"/>
              </a:ext>
            </a:extLst>
          </p:cNvPr>
          <p:cNvSpPr txBox="1"/>
          <p:nvPr/>
        </p:nvSpPr>
        <p:spPr>
          <a:xfrm>
            <a:off x="635000" y="1079500"/>
            <a:ext cx="10922000" cy="400110"/>
          </a:xfrm>
          <a:prstGeom prst="rect">
            <a:avLst/>
          </a:prstGeom>
          <a:noFill/>
        </p:spPr>
        <p:txBody>
          <a:bodyPr vert="horz" rtlCol="0">
            <a:spAutoFit/>
          </a:bodyPr>
          <a:lstStyle/>
          <a:p>
            <a:r>
              <a:rPr lang="en-US" sz="2000" b="1">
                <a:solidFill>
                  <a:srgbClr val="800080"/>
                </a:solidFill>
                <a:latin typeface="Arial" panose="020B0604020202020204" pitchFamily="34" charset="0"/>
              </a:rPr>
              <a:t>The Swiss Army Knife of Financial Vehicles</a:t>
            </a:r>
          </a:p>
        </p:txBody>
      </p:sp>
      <p:sp>
        <p:nvSpPr>
          <p:cNvPr id="4" name="TextBox 3">
            <a:extLst>
              <a:ext uri="{FF2B5EF4-FFF2-40B4-BE49-F238E27FC236}">
                <a16:creationId xmlns:a16="http://schemas.microsoft.com/office/drawing/2014/main" id="{9CBD7E59-12C2-7818-54D7-49C077182C2D}"/>
              </a:ext>
            </a:extLst>
          </p:cNvPr>
          <p:cNvSpPr txBox="1"/>
          <p:nvPr/>
        </p:nvSpPr>
        <p:spPr>
          <a:xfrm>
            <a:off x="762000" y="2032000"/>
            <a:ext cx="7874000" cy="1215717"/>
          </a:xfrm>
          <a:prstGeom prst="rect">
            <a:avLst/>
          </a:prstGeom>
          <a:noFill/>
        </p:spPr>
        <p:txBody>
          <a:bodyPr vert="horz" rtlCol="0">
            <a:spAutoFit/>
          </a:bodyPr>
          <a:lstStyle/>
          <a:p>
            <a:pPr>
              <a:spcBef>
                <a:spcPts val="1000"/>
              </a:spcBef>
            </a:pPr>
            <a:r>
              <a:rPr lang="en-US" sz="1200">
                <a:solidFill>
                  <a:srgbClr val="000000"/>
                </a:solidFill>
                <a:latin typeface="Calibri" panose="020F0502020204030204" pitchFamily="34" charset="0"/>
              </a:rPr>
              <a:t>• The </a:t>
            </a:r>
            <a:r>
              <a:rPr lang="en-US" sz="1200" b="1">
                <a:solidFill>
                  <a:srgbClr val="000000"/>
                </a:solidFill>
                <a:latin typeface="Calibri" panose="020F0502020204030204" pitchFamily="34" charset="0"/>
              </a:rPr>
              <a:t>0% Floor</a:t>
            </a:r>
            <a:r>
              <a:rPr lang="en-US" sz="1200">
                <a:solidFill>
                  <a:srgbClr val="000000"/>
                </a:solidFill>
                <a:latin typeface="Calibri" panose="020F0502020204030204" pitchFamily="34" charset="0"/>
              </a:rPr>
              <a:t>: You participate in market gains but never lose money in a crash.</a:t>
            </a:r>
          </a:p>
          <a:p>
            <a:pPr>
              <a:spcBef>
                <a:spcPts val="1000"/>
              </a:spcBef>
            </a:pPr>
            <a:r>
              <a:rPr lang="en-US" sz="1200">
                <a:solidFill>
                  <a:srgbClr val="000000"/>
                </a:solidFill>
                <a:latin typeface="Calibri" panose="020F0502020204030204" pitchFamily="34" charset="0"/>
              </a:rPr>
              <a:t>• </a:t>
            </a:r>
            <a:r>
              <a:rPr lang="en-US" sz="1200" b="1">
                <a:solidFill>
                  <a:srgbClr val="000000"/>
                </a:solidFill>
                <a:latin typeface="Calibri" panose="020F0502020204030204" pitchFamily="34" charset="0"/>
              </a:rPr>
              <a:t>Tax-Free Growth</a:t>
            </a:r>
            <a:r>
              <a:rPr lang="en-US" sz="1200">
                <a:solidFill>
                  <a:srgbClr val="000000"/>
                </a:solidFill>
                <a:latin typeface="Calibri" panose="020F0502020204030204" pitchFamily="34" charset="0"/>
              </a:rPr>
              <a:t>: Utilizing IRS codes to build wealth that the government can't touch.</a:t>
            </a:r>
          </a:p>
          <a:p>
            <a:pPr>
              <a:spcBef>
                <a:spcPts val="1000"/>
              </a:spcBef>
            </a:pPr>
            <a:r>
              <a:rPr lang="en-US" sz="1200">
                <a:solidFill>
                  <a:srgbClr val="000000"/>
                </a:solidFill>
                <a:latin typeface="Calibri" panose="020F0502020204030204" pitchFamily="34" charset="0"/>
              </a:rPr>
              <a:t>• </a:t>
            </a:r>
            <a:r>
              <a:rPr lang="en-US" sz="1200" b="1">
                <a:solidFill>
                  <a:srgbClr val="000000"/>
                </a:solidFill>
                <a:latin typeface="Calibri" panose="020F0502020204030204" pitchFamily="34" charset="0"/>
              </a:rPr>
              <a:t>Market Indexing</a:t>
            </a:r>
            <a:r>
              <a:rPr lang="en-US" sz="1200">
                <a:solidFill>
                  <a:srgbClr val="000000"/>
                </a:solidFill>
                <a:latin typeface="Calibri" panose="020F0502020204030204" pitchFamily="34" charset="0"/>
              </a:rPr>
              <a:t>: Your money mirrors the S&amp;P 500 growth without the risk.</a:t>
            </a:r>
          </a:p>
          <a:p>
            <a:pPr>
              <a:spcBef>
                <a:spcPts val="1000"/>
              </a:spcBef>
            </a:pPr>
            <a:r>
              <a:rPr lang="en-US" sz="1200">
                <a:solidFill>
                  <a:srgbClr val="000000"/>
                </a:solidFill>
                <a:latin typeface="Calibri" panose="020F0502020204030204" pitchFamily="34" charset="0"/>
              </a:rPr>
              <a:t>• </a:t>
            </a:r>
            <a:r>
              <a:rPr lang="en-US" sz="1200" b="1">
                <a:solidFill>
                  <a:srgbClr val="000000"/>
                </a:solidFill>
                <a:latin typeface="Calibri" panose="020F0502020204030204" pitchFamily="34" charset="0"/>
              </a:rPr>
              <a:t>Living Benefits</a:t>
            </a:r>
            <a:r>
              <a:rPr lang="en-US" sz="1200">
                <a:solidFill>
                  <a:srgbClr val="000000"/>
                </a:solidFill>
                <a:latin typeface="Calibri" panose="020F0502020204030204" pitchFamily="34" charset="0"/>
              </a:rPr>
              <a:t>: Accessing your </a:t>
            </a:r>
            <a:r>
              <a:rPr lang="en-US" sz="1200" b="1">
                <a:solidFill>
                  <a:srgbClr val="000000"/>
                </a:solidFill>
                <a:latin typeface="Calibri" panose="020F0502020204030204" pitchFamily="34" charset="0"/>
              </a:rPr>
              <a:t>death benefit</a:t>
            </a:r>
            <a:r>
              <a:rPr lang="en-US" sz="1200">
                <a:solidFill>
                  <a:srgbClr val="000000"/>
                </a:solidFill>
                <a:latin typeface="Calibri" panose="020F0502020204030204" pitchFamily="34" charset="0"/>
              </a:rPr>
              <a:t> while you are still alive.</a:t>
            </a:r>
          </a:p>
        </p:txBody>
      </p:sp>
      <p:sp>
        <p:nvSpPr>
          <p:cNvPr id="7" name="Date Placeholder 6">
            <a:extLst>
              <a:ext uri="{FF2B5EF4-FFF2-40B4-BE49-F238E27FC236}">
                <a16:creationId xmlns:a16="http://schemas.microsoft.com/office/drawing/2014/main" id="{07CC87F2-C2D6-566C-6B7B-93288EDBD1BD}"/>
              </a:ext>
            </a:extLst>
          </p:cNvPr>
          <p:cNvSpPr>
            <a:spLocks noGrp="1"/>
          </p:cNvSpPr>
          <p:nvPr>
            <p:ph type="dt" sz="half" idx="10"/>
          </p:nvPr>
        </p:nvSpPr>
        <p:spPr/>
        <p:txBody>
          <a:bodyPr/>
          <a:lstStyle/>
          <a:p>
            <a:fld id="{98A6BB4B-D4F4-4B80-94FB-E2CF834FE120}" type="datetime1">
              <a:rPr lang="en-US" smtClean="0"/>
              <a:t>3/31/2026</a:t>
            </a:fld>
            <a:endParaRPr lang="en-US"/>
          </a:p>
        </p:txBody>
      </p:sp>
      <p:sp>
        <p:nvSpPr>
          <p:cNvPr id="9" name="Footer Placeholder 8">
            <a:extLst>
              <a:ext uri="{FF2B5EF4-FFF2-40B4-BE49-F238E27FC236}">
                <a16:creationId xmlns:a16="http://schemas.microsoft.com/office/drawing/2014/main" id="{770F2D15-C5AB-1A9B-A61E-75265C1FEF5D}"/>
              </a:ext>
            </a:extLst>
          </p:cNvPr>
          <p:cNvSpPr>
            <a:spLocks noGrp="1"/>
          </p:cNvSpPr>
          <p:nvPr>
            <p:ph type="ftr" sz="quarter" idx="11"/>
          </p:nvPr>
        </p:nvSpPr>
        <p:spPr/>
        <p:txBody>
          <a:bodyPr/>
          <a:lstStyle/>
          <a:p>
            <a:r>
              <a:rPr lang="en-US"/>
              <a:t>Presenter: Sarojini Pokhrel, WFG</a:t>
            </a:r>
          </a:p>
        </p:txBody>
      </p:sp>
      <p:sp>
        <p:nvSpPr>
          <p:cNvPr id="10" name="Slide Number Placeholder 9">
            <a:extLst>
              <a:ext uri="{FF2B5EF4-FFF2-40B4-BE49-F238E27FC236}">
                <a16:creationId xmlns:a16="http://schemas.microsoft.com/office/drawing/2014/main" id="{2733D228-5AB9-2E36-4FED-42D6A5AA45C9}"/>
              </a:ext>
            </a:extLst>
          </p:cNvPr>
          <p:cNvSpPr>
            <a:spLocks noGrp="1"/>
          </p:cNvSpPr>
          <p:nvPr>
            <p:ph type="sldNum" sz="quarter" idx="12"/>
          </p:nvPr>
        </p:nvSpPr>
        <p:spPr/>
        <p:txBody>
          <a:bodyPr/>
          <a:lstStyle/>
          <a:p>
            <a:fld id="{ED87AB4C-FC3A-4E15-BC9A-3395C324A7AE}" type="slidenum">
              <a:rPr lang="en-US" smtClean="0"/>
              <a:t>6</a:t>
            </a:fld>
            <a:endParaRPr lang="en-US"/>
          </a:p>
        </p:txBody>
      </p:sp>
      <p:sp>
        <p:nvSpPr>
          <p:cNvPr id="11" name="Cylinder 10">
            <a:hlinkClick r:id="" action="ppaction://hlinkshowjump?jump=firstslide"/>
            <a:extLst>
              <a:ext uri="{FF2B5EF4-FFF2-40B4-BE49-F238E27FC236}">
                <a16:creationId xmlns:a16="http://schemas.microsoft.com/office/drawing/2014/main" id="{14AB1A59-65BE-7D8A-6730-601AAF8BB41F}"/>
              </a:ext>
            </a:extLst>
          </p:cNvPr>
          <p:cNvSpPr/>
          <p:nvPr/>
        </p:nvSpPr>
        <p:spPr>
          <a:xfrm>
            <a:off x="895350"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t>BACK</a:t>
            </a:r>
          </a:p>
        </p:txBody>
      </p:sp>
      <p:sp>
        <p:nvSpPr>
          <p:cNvPr id="12" name="Cylinder 11">
            <a:hlinkClick r:id="" action="ppaction://hlinkshowjump?jump=nextslide"/>
            <a:extLst>
              <a:ext uri="{FF2B5EF4-FFF2-40B4-BE49-F238E27FC236}">
                <a16:creationId xmlns:a16="http://schemas.microsoft.com/office/drawing/2014/main" id="{3E2FF791-8670-9A7B-5D8C-1665E26FB228}"/>
              </a:ext>
            </a:extLst>
          </p:cNvPr>
          <p:cNvSpPr/>
          <p:nvPr/>
        </p:nvSpPr>
        <p:spPr>
          <a:xfrm>
            <a:off x="7681433"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a:t>
            </a:r>
          </a:p>
        </p:txBody>
      </p:sp>
      <p:pic>
        <p:nvPicPr>
          <p:cNvPr id="5" name="Picture 4">
            <a:extLst>
              <a:ext uri="{FF2B5EF4-FFF2-40B4-BE49-F238E27FC236}">
                <a16:creationId xmlns:a16="http://schemas.microsoft.com/office/drawing/2014/main" id="{BB6A7755-2291-DB5D-C235-03C5D435E3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47303" cy="698202"/>
          </a:xfrm>
          <a:prstGeom prst="rect">
            <a:avLst/>
          </a:prstGeom>
        </p:spPr>
      </p:pic>
      <p:pic>
        <p:nvPicPr>
          <p:cNvPr id="8" name="Picture 7">
            <a:extLst>
              <a:ext uri="{FF2B5EF4-FFF2-40B4-BE49-F238E27FC236}">
                <a16:creationId xmlns:a16="http://schemas.microsoft.com/office/drawing/2014/main" id="{6EAE3CE7-B89F-3B22-21D3-7CBBD433D2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5884" y="1615672"/>
            <a:ext cx="2137549" cy="1424142"/>
          </a:xfrm>
          <a:prstGeom prst="rect">
            <a:avLst/>
          </a:prstGeom>
        </p:spPr>
      </p:pic>
      <p:pic>
        <p:nvPicPr>
          <p:cNvPr id="13" name="Picture 12">
            <a:extLst>
              <a:ext uri="{FF2B5EF4-FFF2-40B4-BE49-F238E27FC236}">
                <a16:creationId xmlns:a16="http://schemas.microsoft.com/office/drawing/2014/main" id="{7C925E4B-3512-F5D2-FBF8-B81E2A7FD2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92900" y="3295419"/>
            <a:ext cx="1758200" cy="1424142"/>
          </a:xfrm>
          <a:prstGeom prst="rect">
            <a:avLst/>
          </a:prstGeom>
        </p:spPr>
      </p:pic>
    </p:spTree>
    <p:extLst>
      <p:ext uri="{BB962C8B-B14F-4D97-AF65-F5344CB8AC3E}">
        <p14:creationId xmlns:p14="http://schemas.microsoft.com/office/powerpoint/2010/main" val="940326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891542C-7D13-A0F9-FA03-1B630F5E4B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8928" y="908132"/>
            <a:ext cx="2126422" cy="1419387"/>
          </a:xfrm>
          <a:prstGeom prst="rect">
            <a:avLst/>
          </a:prstGeom>
        </p:spPr>
      </p:pic>
      <p:sp>
        <p:nvSpPr>
          <p:cNvPr id="2" name="TextBox 1">
            <a:extLst>
              <a:ext uri="{FF2B5EF4-FFF2-40B4-BE49-F238E27FC236}">
                <a16:creationId xmlns:a16="http://schemas.microsoft.com/office/drawing/2014/main" id="{E1DC0FB5-24EA-EF4E-90E4-6ACA24EC752B}"/>
              </a:ext>
            </a:extLst>
          </p:cNvPr>
          <p:cNvSpPr txBox="1"/>
          <p:nvPr/>
        </p:nvSpPr>
        <p:spPr>
          <a:xfrm>
            <a:off x="635000" y="593695"/>
            <a:ext cx="10922000" cy="584775"/>
          </a:xfrm>
          <a:prstGeom prst="rect">
            <a:avLst/>
          </a:prstGeom>
          <a:noFill/>
        </p:spPr>
        <p:txBody>
          <a:bodyPr vert="horz" rtlCol="0">
            <a:spAutoFit/>
          </a:bodyPr>
          <a:lstStyle/>
          <a:p>
            <a:r>
              <a:rPr lang="en-US" sz="3200" b="1" dirty="0">
                <a:solidFill>
                  <a:srgbClr val="002060"/>
                </a:solidFill>
                <a:latin typeface="Arial" panose="020B0604020202020204" pitchFamily="34" charset="0"/>
              </a:rPr>
              <a:t>Benefits While You Are Alive</a:t>
            </a:r>
          </a:p>
        </p:txBody>
      </p:sp>
      <p:sp>
        <p:nvSpPr>
          <p:cNvPr id="3" name="TextBox 2">
            <a:extLst>
              <a:ext uri="{FF2B5EF4-FFF2-40B4-BE49-F238E27FC236}">
                <a16:creationId xmlns:a16="http://schemas.microsoft.com/office/drawing/2014/main" id="{E9173569-95A7-A13D-6657-E973E046A983}"/>
              </a:ext>
            </a:extLst>
          </p:cNvPr>
          <p:cNvSpPr txBox="1"/>
          <p:nvPr/>
        </p:nvSpPr>
        <p:spPr>
          <a:xfrm>
            <a:off x="635000" y="1079500"/>
            <a:ext cx="10922000" cy="400110"/>
          </a:xfrm>
          <a:prstGeom prst="rect">
            <a:avLst/>
          </a:prstGeom>
          <a:noFill/>
        </p:spPr>
        <p:txBody>
          <a:bodyPr vert="horz" rtlCol="0">
            <a:spAutoFit/>
          </a:bodyPr>
          <a:lstStyle/>
          <a:p>
            <a:r>
              <a:rPr lang="en-US" sz="2000" b="1">
                <a:solidFill>
                  <a:srgbClr val="800080"/>
                </a:solidFill>
                <a:latin typeface="Arial" panose="020B0604020202020204" pitchFamily="34" charset="0"/>
              </a:rPr>
              <a:t>Life Insurance You Don't Have to Die to Use</a:t>
            </a:r>
          </a:p>
        </p:txBody>
      </p:sp>
      <p:sp>
        <p:nvSpPr>
          <p:cNvPr id="4" name="TextBox 3">
            <a:extLst>
              <a:ext uri="{FF2B5EF4-FFF2-40B4-BE49-F238E27FC236}">
                <a16:creationId xmlns:a16="http://schemas.microsoft.com/office/drawing/2014/main" id="{46479A06-69EC-E2D4-AFD0-8B14891A96D0}"/>
              </a:ext>
            </a:extLst>
          </p:cNvPr>
          <p:cNvSpPr txBox="1"/>
          <p:nvPr/>
        </p:nvSpPr>
        <p:spPr>
          <a:xfrm>
            <a:off x="762000" y="2032000"/>
            <a:ext cx="7874000" cy="1215717"/>
          </a:xfrm>
          <a:prstGeom prst="rect">
            <a:avLst/>
          </a:prstGeom>
          <a:noFill/>
        </p:spPr>
        <p:txBody>
          <a:bodyPr vert="horz" rtlCol="0">
            <a:spAutoFit/>
          </a:bodyPr>
          <a:lstStyle/>
          <a:p>
            <a:pPr>
              <a:spcBef>
                <a:spcPts val="1000"/>
              </a:spcBef>
            </a:pPr>
            <a:r>
              <a:rPr lang="en-US" sz="1200" dirty="0">
                <a:solidFill>
                  <a:srgbClr val="000000"/>
                </a:solidFill>
                <a:latin typeface="Calibri" panose="020F0502020204030204" pitchFamily="34" charset="0"/>
              </a:rPr>
              <a:t>• </a:t>
            </a:r>
            <a:r>
              <a:rPr lang="en-US" sz="1200" b="1" dirty="0">
                <a:solidFill>
                  <a:srgbClr val="000000"/>
                </a:solidFill>
                <a:latin typeface="Calibri" panose="020F0502020204030204" pitchFamily="34" charset="0"/>
              </a:rPr>
              <a:t>Chronic</a:t>
            </a:r>
            <a:r>
              <a:rPr lang="en-US" sz="1200" dirty="0">
                <a:solidFill>
                  <a:srgbClr val="000000"/>
                </a:solidFill>
                <a:latin typeface="Calibri" panose="020F0502020204030204" pitchFamily="34" charset="0"/>
              </a:rPr>
              <a:t> &amp; </a:t>
            </a:r>
            <a:r>
              <a:rPr lang="en-US" sz="1200" b="1" dirty="0">
                <a:solidFill>
                  <a:srgbClr val="000000"/>
                </a:solidFill>
                <a:latin typeface="Calibri" panose="020F0502020204030204" pitchFamily="34" charset="0"/>
              </a:rPr>
              <a:t>Critical</a:t>
            </a:r>
            <a:r>
              <a:rPr lang="en-US" sz="1200" dirty="0">
                <a:solidFill>
                  <a:srgbClr val="000000"/>
                </a:solidFill>
                <a:latin typeface="Calibri" panose="020F0502020204030204" pitchFamily="34" charset="0"/>
              </a:rPr>
              <a:t> Illness: Tax-Free cash if you face a heart attack, stroke, or cancer.</a:t>
            </a:r>
          </a:p>
          <a:p>
            <a:pPr>
              <a:spcBef>
                <a:spcPts val="1000"/>
              </a:spcBef>
            </a:pPr>
            <a:r>
              <a:rPr lang="en-US" sz="1200" dirty="0">
                <a:solidFill>
                  <a:srgbClr val="000000"/>
                </a:solidFill>
                <a:latin typeface="Calibri" panose="020F0502020204030204" pitchFamily="34" charset="0"/>
              </a:rPr>
              <a:t>• Cash Value </a:t>
            </a:r>
            <a:r>
              <a:rPr lang="en-US" sz="1200" b="1" dirty="0">
                <a:solidFill>
                  <a:srgbClr val="000000"/>
                </a:solidFill>
                <a:latin typeface="Calibri" panose="020F0502020204030204" pitchFamily="34" charset="0"/>
              </a:rPr>
              <a:t>Liquidity</a:t>
            </a:r>
            <a:r>
              <a:rPr lang="en-US" sz="1200" dirty="0">
                <a:solidFill>
                  <a:srgbClr val="000000"/>
                </a:solidFill>
                <a:latin typeface="Calibri" panose="020F0502020204030204" pitchFamily="34" charset="0"/>
              </a:rPr>
              <a:t>: Accessing money for emergencies, house down payments, or college.</a:t>
            </a:r>
          </a:p>
          <a:p>
            <a:pPr>
              <a:spcBef>
                <a:spcPts val="1000"/>
              </a:spcBef>
            </a:pPr>
            <a:r>
              <a:rPr lang="en-US" sz="1200" dirty="0">
                <a:solidFill>
                  <a:srgbClr val="000000"/>
                </a:solidFill>
                <a:latin typeface="Calibri" panose="020F0502020204030204" pitchFamily="34" charset="0"/>
              </a:rPr>
              <a:t>• Income Replacement: A self-funding plan that protects your family's lifestyle.</a:t>
            </a:r>
          </a:p>
          <a:p>
            <a:pPr>
              <a:spcBef>
                <a:spcPts val="1000"/>
              </a:spcBef>
            </a:pPr>
            <a:r>
              <a:rPr lang="en-US" sz="1200" dirty="0">
                <a:solidFill>
                  <a:srgbClr val="000000"/>
                </a:solidFill>
                <a:latin typeface="Calibri" panose="020F0502020204030204" pitchFamily="34" charset="0"/>
              </a:rPr>
              <a:t>• Budget </a:t>
            </a:r>
            <a:r>
              <a:rPr lang="en-US" sz="1200" b="1" dirty="0">
                <a:solidFill>
                  <a:srgbClr val="000000"/>
                </a:solidFill>
                <a:latin typeface="Calibri" panose="020F0502020204030204" pitchFamily="34" charset="0"/>
              </a:rPr>
              <a:t>Scalability</a:t>
            </a:r>
            <a:r>
              <a:rPr lang="en-US" sz="1200" dirty="0">
                <a:solidFill>
                  <a:srgbClr val="000000"/>
                </a:solidFill>
                <a:latin typeface="Calibri" panose="020F0502020204030204" pitchFamily="34" charset="0"/>
              </a:rPr>
              <a:t>: A plan that grows and adjusts as your income increases.</a:t>
            </a:r>
          </a:p>
        </p:txBody>
      </p:sp>
      <p:sp>
        <p:nvSpPr>
          <p:cNvPr id="7" name="Date Placeholder 6">
            <a:extLst>
              <a:ext uri="{FF2B5EF4-FFF2-40B4-BE49-F238E27FC236}">
                <a16:creationId xmlns:a16="http://schemas.microsoft.com/office/drawing/2014/main" id="{78294508-AD15-E7C0-FB39-00AAB12D0C17}"/>
              </a:ext>
            </a:extLst>
          </p:cNvPr>
          <p:cNvSpPr>
            <a:spLocks noGrp="1"/>
          </p:cNvSpPr>
          <p:nvPr>
            <p:ph type="dt" sz="half" idx="10"/>
          </p:nvPr>
        </p:nvSpPr>
        <p:spPr/>
        <p:txBody>
          <a:bodyPr/>
          <a:lstStyle/>
          <a:p>
            <a:fld id="{AB640350-50A1-4C02-B2BA-BD1EBE052E9D}" type="datetime1">
              <a:rPr lang="en-US" smtClean="0"/>
              <a:t>3/31/2026</a:t>
            </a:fld>
            <a:endParaRPr lang="en-US"/>
          </a:p>
        </p:txBody>
      </p:sp>
      <p:sp>
        <p:nvSpPr>
          <p:cNvPr id="9" name="Footer Placeholder 8">
            <a:extLst>
              <a:ext uri="{FF2B5EF4-FFF2-40B4-BE49-F238E27FC236}">
                <a16:creationId xmlns:a16="http://schemas.microsoft.com/office/drawing/2014/main" id="{6D3CEB59-4BB6-1518-9B37-58C58BC3FDF1}"/>
              </a:ext>
            </a:extLst>
          </p:cNvPr>
          <p:cNvSpPr>
            <a:spLocks noGrp="1"/>
          </p:cNvSpPr>
          <p:nvPr>
            <p:ph type="ftr" sz="quarter" idx="11"/>
          </p:nvPr>
        </p:nvSpPr>
        <p:spPr/>
        <p:txBody>
          <a:bodyPr/>
          <a:lstStyle/>
          <a:p>
            <a:r>
              <a:rPr lang="en-US"/>
              <a:t>Presenter: Sarojini Pokhrel, WFG</a:t>
            </a:r>
          </a:p>
        </p:txBody>
      </p:sp>
      <p:sp>
        <p:nvSpPr>
          <p:cNvPr id="10" name="Slide Number Placeholder 9">
            <a:extLst>
              <a:ext uri="{FF2B5EF4-FFF2-40B4-BE49-F238E27FC236}">
                <a16:creationId xmlns:a16="http://schemas.microsoft.com/office/drawing/2014/main" id="{8CADE433-E686-6BDF-3A54-367EA628289D}"/>
              </a:ext>
            </a:extLst>
          </p:cNvPr>
          <p:cNvSpPr>
            <a:spLocks noGrp="1"/>
          </p:cNvSpPr>
          <p:nvPr>
            <p:ph type="sldNum" sz="quarter" idx="12"/>
          </p:nvPr>
        </p:nvSpPr>
        <p:spPr/>
        <p:txBody>
          <a:bodyPr/>
          <a:lstStyle/>
          <a:p>
            <a:fld id="{ED87AB4C-FC3A-4E15-BC9A-3395C324A7AE}" type="slidenum">
              <a:rPr lang="en-US" smtClean="0"/>
              <a:t>7</a:t>
            </a:fld>
            <a:endParaRPr lang="en-US"/>
          </a:p>
        </p:txBody>
      </p:sp>
      <p:sp>
        <p:nvSpPr>
          <p:cNvPr id="11" name="Cylinder 10">
            <a:hlinkClick r:id="" action="ppaction://hlinkshowjump?jump=firstslide"/>
            <a:extLst>
              <a:ext uri="{FF2B5EF4-FFF2-40B4-BE49-F238E27FC236}">
                <a16:creationId xmlns:a16="http://schemas.microsoft.com/office/drawing/2014/main" id="{BBDEDBD1-3B89-2B25-CEDE-FFCED838281C}"/>
              </a:ext>
            </a:extLst>
          </p:cNvPr>
          <p:cNvSpPr/>
          <p:nvPr/>
        </p:nvSpPr>
        <p:spPr>
          <a:xfrm>
            <a:off x="895350"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t>BACK</a:t>
            </a:r>
          </a:p>
        </p:txBody>
      </p:sp>
      <p:sp>
        <p:nvSpPr>
          <p:cNvPr id="12" name="Cylinder 11">
            <a:hlinkClick r:id="" action="ppaction://hlinkshowjump?jump=nextslide"/>
            <a:extLst>
              <a:ext uri="{FF2B5EF4-FFF2-40B4-BE49-F238E27FC236}">
                <a16:creationId xmlns:a16="http://schemas.microsoft.com/office/drawing/2014/main" id="{F144D8BD-8473-C04B-9625-520E50CE9FA7}"/>
              </a:ext>
            </a:extLst>
          </p:cNvPr>
          <p:cNvSpPr/>
          <p:nvPr/>
        </p:nvSpPr>
        <p:spPr>
          <a:xfrm>
            <a:off x="7681433"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a:t>
            </a:r>
          </a:p>
        </p:txBody>
      </p:sp>
      <p:pic>
        <p:nvPicPr>
          <p:cNvPr id="5" name="Picture 4">
            <a:extLst>
              <a:ext uri="{FF2B5EF4-FFF2-40B4-BE49-F238E27FC236}">
                <a16:creationId xmlns:a16="http://schemas.microsoft.com/office/drawing/2014/main" id="{3A5CEB81-2AB1-3D4E-7013-EC3B74DDCA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047303" cy="698202"/>
          </a:xfrm>
          <a:prstGeom prst="rect">
            <a:avLst/>
          </a:prstGeom>
        </p:spPr>
      </p:pic>
      <p:pic>
        <p:nvPicPr>
          <p:cNvPr id="13" name="Picture 12">
            <a:extLst>
              <a:ext uri="{FF2B5EF4-FFF2-40B4-BE49-F238E27FC236}">
                <a16:creationId xmlns:a16="http://schemas.microsoft.com/office/drawing/2014/main" id="{64E68E43-95D1-BB6D-6521-8DC77D269A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1313" y="3310742"/>
            <a:ext cx="2449373" cy="1456521"/>
          </a:xfrm>
          <a:prstGeom prst="rect">
            <a:avLst/>
          </a:prstGeom>
        </p:spPr>
      </p:pic>
    </p:spTree>
    <p:extLst>
      <p:ext uri="{BB962C8B-B14F-4D97-AF65-F5344CB8AC3E}">
        <p14:creationId xmlns:p14="http://schemas.microsoft.com/office/powerpoint/2010/main" val="3787690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F559C7-C9B5-2C45-3EF9-BC81B4771EBC}"/>
              </a:ext>
            </a:extLst>
          </p:cNvPr>
          <p:cNvSpPr txBox="1"/>
          <p:nvPr/>
        </p:nvSpPr>
        <p:spPr>
          <a:xfrm>
            <a:off x="628650" y="593695"/>
            <a:ext cx="10922000" cy="584775"/>
          </a:xfrm>
          <a:prstGeom prst="rect">
            <a:avLst/>
          </a:prstGeom>
          <a:noFill/>
        </p:spPr>
        <p:txBody>
          <a:bodyPr vert="horz" rtlCol="0">
            <a:spAutoFit/>
          </a:bodyPr>
          <a:lstStyle/>
          <a:p>
            <a:r>
              <a:rPr lang="en-US" sz="3200" b="1" dirty="0">
                <a:solidFill>
                  <a:srgbClr val="002060"/>
                </a:solidFill>
                <a:latin typeface="Arial" panose="020B0604020202020204" pitchFamily="34" charset="0"/>
              </a:rPr>
              <a:t>Generational Wealth &amp; Continuity</a:t>
            </a:r>
          </a:p>
        </p:txBody>
      </p:sp>
      <p:sp>
        <p:nvSpPr>
          <p:cNvPr id="3" name="TextBox 2">
            <a:extLst>
              <a:ext uri="{FF2B5EF4-FFF2-40B4-BE49-F238E27FC236}">
                <a16:creationId xmlns:a16="http://schemas.microsoft.com/office/drawing/2014/main" id="{68376C08-C303-6B7D-237E-FEB494B6EDF3}"/>
              </a:ext>
            </a:extLst>
          </p:cNvPr>
          <p:cNvSpPr txBox="1"/>
          <p:nvPr/>
        </p:nvSpPr>
        <p:spPr>
          <a:xfrm>
            <a:off x="635000" y="1079500"/>
            <a:ext cx="10922000" cy="400110"/>
          </a:xfrm>
          <a:prstGeom prst="rect">
            <a:avLst/>
          </a:prstGeom>
          <a:noFill/>
        </p:spPr>
        <p:txBody>
          <a:bodyPr vert="horz" rtlCol="0">
            <a:spAutoFit/>
          </a:bodyPr>
          <a:lstStyle/>
          <a:p>
            <a:r>
              <a:rPr lang="en-US" sz="2000" b="1">
                <a:solidFill>
                  <a:srgbClr val="800080"/>
                </a:solidFill>
                <a:latin typeface="Arial" panose="020B0604020202020204" pitchFamily="34" charset="0"/>
              </a:rPr>
              <a:t>Protecting Your Future and Your Children's Potential</a:t>
            </a:r>
          </a:p>
        </p:txBody>
      </p:sp>
      <p:sp>
        <p:nvSpPr>
          <p:cNvPr id="4" name="TextBox 3">
            <a:extLst>
              <a:ext uri="{FF2B5EF4-FFF2-40B4-BE49-F238E27FC236}">
                <a16:creationId xmlns:a16="http://schemas.microsoft.com/office/drawing/2014/main" id="{BC8442E4-ACE2-9DBD-90FC-7AE4E4854ED8}"/>
              </a:ext>
            </a:extLst>
          </p:cNvPr>
          <p:cNvSpPr txBox="1"/>
          <p:nvPr/>
        </p:nvSpPr>
        <p:spPr>
          <a:xfrm>
            <a:off x="762000" y="2032000"/>
            <a:ext cx="7874000" cy="1215717"/>
          </a:xfrm>
          <a:prstGeom prst="rect">
            <a:avLst/>
          </a:prstGeom>
          <a:noFill/>
        </p:spPr>
        <p:txBody>
          <a:bodyPr vert="horz" rtlCol="0">
            <a:spAutoFit/>
          </a:bodyPr>
          <a:lstStyle/>
          <a:p>
            <a:pPr>
              <a:spcBef>
                <a:spcPts val="1000"/>
              </a:spcBef>
            </a:pPr>
            <a:r>
              <a:rPr lang="en-US" sz="1200">
                <a:solidFill>
                  <a:srgbClr val="000000"/>
                </a:solidFill>
                <a:latin typeface="Calibri" panose="020F0502020204030204" pitchFamily="34" charset="0"/>
              </a:rPr>
              <a:t>• Adult Protection: Securing your income and paying off the family </a:t>
            </a:r>
            <a:r>
              <a:rPr lang="en-US" sz="1200" b="1">
                <a:solidFill>
                  <a:srgbClr val="000000"/>
                </a:solidFill>
                <a:latin typeface="Calibri" panose="020F0502020204030204" pitchFamily="34" charset="0"/>
              </a:rPr>
              <a:t>mortgage</a:t>
            </a:r>
            <a:r>
              <a:rPr lang="en-US" sz="1200">
                <a:solidFill>
                  <a:srgbClr val="000000"/>
                </a:solidFill>
                <a:latin typeface="Calibri" panose="020F0502020204030204" pitchFamily="34" charset="0"/>
              </a:rPr>
              <a:t>.</a:t>
            </a:r>
          </a:p>
          <a:p>
            <a:pPr>
              <a:spcBef>
                <a:spcPts val="1000"/>
              </a:spcBef>
            </a:pPr>
            <a:r>
              <a:rPr lang="en-US" sz="1200">
                <a:solidFill>
                  <a:srgbClr val="000000"/>
                </a:solidFill>
                <a:latin typeface="Calibri" panose="020F0502020204030204" pitchFamily="34" charset="0"/>
              </a:rPr>
              <a:t>• The '</a:t>
            </a:r>
            <a:r>
              <a:rPr lang="en-US" sz="1200" b="1">
                <a:solidFill>
                  <a:srgbClr val="000000"/>
                </a:solidFill>
                <a:latin typeface="Calibri" panose="020F0502020204030204" pitchFamily="34" charset="0"/>
              </a:rPr>
              <a:t>Head Start</a:t>
            </a:r>
            <a:r>
              <a:rPr lang="en-US" sz="1200">
                <a:solidFill>
                  <a:srgbClr val="000000"/>
                </a:solidFill>
                <a:latin typeface="Calibri" panose="020F0502020204030204" pitchFamily="34" charset="0"/>
              </a:rPr>
              <a:t>' Strategy: Locking in a child's </a:t>
            </a:r>
            <a:r>
              <a:rPr lang="en-US" sz="1200" b="1">
                <a:solidFill>
                  <a:srgbClr val="000000"/>
                </a:solidFill>
                <a:latin typeface="Calibri" panose="020F0502020204030204" pitchFamily="34" charset="0"/>
              </a:rPr>
              <a:t>Insurability</a:t>
            </a:r>
            <a:r>
              <a:rPr lang="en-US" sz="1200">
                <a:solidFill>
                  <a:srgbClr val="000000"/>
                </a:solidFill>
                <a:latin typeface="Calibri" panose="020F0502020204030204" pitchFamily="34" charset="0"/>
              </a:rPr>
              <a:t> before they grow up.</a:t>
            </a:r>
          </a:p>
          <a:p>
            <a:pPr>
              <a:spcBef>
                <a:spcPts val="1000"/>
              </a:spcBef>
            </a:pPr>
            <a:r>
              <a:rPr lang="en-US" sz="1200">
                <a:solidFill>
                  <a:srgbClr val="000000"/>
                </a:solidFill>
                <a:latin typeface="Calibri" panose="020F0502020204030204" pitchFamily="34" charset="0"/>
              </a:rPr>
              <a:t>• </a:t>
            </a:r>
            <a:r>
              <a:rPr lang="en-US" sz="1200" b="1">
                <a:solidFill>
                  <a:srgbClr val="000000"/>
                </a:solidFill>
                <a:latin typeface="Calibri" panose="020F0502020204030204" pitchFamily="34" charset="0"/>
              </a:rPr>
              <a:t>Compounding Growth</a:t>
            </a:r>
            <a:r>
              <a:rPr lang="en-US" sz="1200">
                <a:solidFill>
                  <a:srgbClr val="000000"/>
                </a:solidFill>
                <a:latin typeface="Calibri" panose="020F0502020204030204" pitchFamily="34" charset="0"/>
              </a:rPr>
              <a:t>: Giving your kids a 40-year advantage in wealth building.</a:t>
            </a:r>
          </a:p>
          <a:p>
            <a:pPr>
              <a:spcBef>
                <a:spcPts val="1000"/>
              </a:spcBef>
            </a:pPr>
            <a:r>
              <a:rPr lang="en-US" sz="1200">
                <a:solidFill>
                  <a:srgbClr val="000000"/>
                </a:solidFill>
                <a:latin typeface="Calibri" panose="020F0502020204030204" pitchFamily="34" charset="0"/>
              </a:rPr>
              <a:t>• Legacy Planning: Ensuring the family name is backed by a financial foundation.</a:t>
            </a:r>
          </a:p>
        </p:txBody>
      </p:sp>
      <p:sp>
        <p:nvSpPr>
          <p:cNvPr id="7" name="Date Placeholder 6">
            <a:extLst>
              <a:ext uri="{FF2B5EF4-FFF2-40B4-BE49-F238E27FC236}">
                <a16:creationId xmlns:a16="http://schemas.microsoft.com/office/drawing/2014/main" id="{B837CFCD-88F3-86A5-9139-75923A266D0A}"/>
              </a:ext>
            </a:extLst>
          </p:cNvPr>
          <p:cNvSpPr>
            <a:spLocks noGrp="1"/>
          </p:cNvSpPr>
          <p:nvPr>
            <p:ph type="dt" sz="half" idx="10"/>
          </p:nvPr>
        </p:nvSpPr>
        <p:spPr/>
        <p:txBody>
          <a:bodyPr/>
          <a:lstStyle/>
          <a:p>
            <a:fld id="{B550EDCA-064B-44A7-89CD-738FD3677A50}" type="datetime1">
              <a:rPr lang="en-US" smtClean="0"/>
              <a:t>3/31/2026</a:t>
            </a:fld>
            <a:endParaRPr lang="en-US"/>
          </a:p>
        </p:txBody>
      </p:sp>
      <p:sp>
        <p:nvSpPr>
          <p:cNvPr id="9" name="Footer Placeholder 8">
            <a:extLst>
              <a:ext uri="{FF2B5EF4-FFF2-40B4-BE49-F238E27FC236}">
                <a16:creationId xmlns:a16="http://schemas.microsoft.com/office/drawing/2014/main" id="{CDC20C60-DBFF-7F0E-F80A-5E25C52F0FC1}"/>
              </a:ext>
            </a:extLst>
          </p:cNvPr>
          <p:cNvSpPr>
            <a:spLocks noGrp="1"/>
          </p:cNvSpPr>
          <p:nvPr>
            <p:ph type="ftr" sz="quarter" idx="11"/>
          </p:nvPr>
        </p:nvSpPr>
        <p:spPr/>
        <p:txBody>
          <a:bodyPr/>
          <a:lstStyle/>
          <a:p>
            <a:r>
              <a:rPr lang="en-US"/>
              <a:t>Presenter: Sarojini Pokhrel, WFG</a:t>
            </a:r>
          </a:p>
        </p:txBody>
      </p:sp>
      <p:sp>
        <p:nvSpPr>
          <p:cNvPr id="10" name="Slide Number Placeholder 9">
            <a:extLst>
              <a:ext uri="{FF2B5EF4-FFF2-40B4-BE49-F238E27FC236}">
                <a16:creationId xmlns:a16="http://schemas.microsoft.com/office/drawing/2014/main" id="{87CF2011-B573-CF3B-10B7-D7A5103A661E}"/>
              </a:ext>
            </a:extLst>
          </p:cNvPr>
          <p:cNvSpPr>
            <a:spLocks noGrp="1"/>
          </p:cNvSpPr>
          <p:nvPr>
            <p:ph type="sldNum" sz="quarter" idx="12"/>
          </p:nvPr>
        </p:nvSpPr>
        <p:spPr/>
        <p:txBody>
          <a:bodyPr/>
          <a:lstStyle/>
          <a:p>
            <a:fld id="{ED87AB4C-FC3A-4E15-BC9A-3395C324A7AE}" type="slidenum">
              <a:rPr lang="en-US" smtClean="0"/>
              <a:t>8</a:t>
            </a:fld>
            <a:endParaRPr lang="en-US"/>
          </a:p>
        </p:txBody>
      </p:sp>
      <p:sp>
        <p:nvSpPr>
          <p:cNvPr id="11" name="Cylinder 10">
            <a:hlinkClick r:id="" action="ppaction://hlinkshowjump?jump=firstslide"/>
            <a:extLst>
              <a:ext uri="{FF2B5EF4-FFF2-40B4-BE49-F238E27FC236}">
                <a16:creationId xmlns:a16="http://schemas.microsoft.com/office/drawing/2014/main" id="{A51BC2D5-A634-F909-C221-5D2C30F15456}"/>
              </a:ext>
            </a:extLst>
          </p:cNvPr>
          <p:cNvSpPr/>
          <p:nvPr/>
        </p:nvSpPr>
        <p:spPr>
          <a:xfrm>
            <a:off x="895350"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t>BACK</a:t>
            </a:r>
          </a:p>
        </p:txBody>
      </p:sp>
      <p:sp>
        <p:nvSpPr>
          <p:cNvPr id="12" name="Cylinder 11">
            <a:hlinkClick r:id="" action="ppaction://hlinkshowjump?jump=nextslide"/>
            <a:extLst>
              <a:ext uri="{FF2B5EF4-FFF2-40B4-BE49-F238E27FC236}">
                <a16:creationId xmlns:a16="http://schemas.microsoft.com/office/drawing/2014/main" id="{A3F6C70B-22CB-3B21-99BD-7A3517573F1C}"/>
              </a:ext>
            </a:extLst>
          </p:cNvPr>
          <p:cNvSpPr/>
          <p:nvPr/>
        </p:nvSpPr>
        <p:spPr>
          <a:xfrm>
            <a:off x="7681433"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a:t>
            </a:r>
          </a:p>
        </p:txBody>
      </p:sp>
      <p:pic>
        <p:nvPicPr>
          <p:cNvPr id="5" name="Picture 4">
            <a:extLst>
              <a:ext uri="{FF2B5EF4-FFF2-40B4-BE49-F238E27FC236}">
                <a16:creationId xmlns:a16="http://schemas.microsoft.com/office/drawing/2014/main" id="{F0E08E07-C441-9F08-CF9A-DDC5EC99C2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47303" cy="698202"/>
          </a:xfrm>
          <a:prstGeom prst="rect">
            <a:avLst/>
          </a:prstGeom>
        </p:spPr>
      </p:pic>
      <p:pic>
        <p:nvPicPr>
          <p:cNvPr id="14" name="Picture 13">
            <a:extLst>
              <a:ext uri="{FF2B5EF4-FFF2-40B4-BE49-F238E27FC236}">
                <a16:creationId xmlns:a16="http://schemas.microsoft.com/office/drawing/2014/main" id="{99C5B489-27DC-4136-A28D-3B950BBCF0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5278" y="1782484"/>
            <a:ext cx="2548155" cy="1873874"/>
          </a:xfrm>
          <a:prstGeom prst="rect">
            <a:avLst/>
          </a:prstGeom>
        </p:spPr>
      </p:pic>
    </p:spTree>
    <p:extLst>
      <p:ext uri="{BB962C8B-B14F-4D97-AF65-F5344CB8AC3E}">
        <p14:creationId xmlns:p14="http://schemas.microsoft.com/office/powerpoint/2010/main" val="2754832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B97F5C-B678-3A03-3AF6-C8BDFE755D5B}"/>
              </a:ext>
            </a:extLst>
          </p:cNvPr>
          <p:cNvSpPr txBox="1"/>
          <p:nvPr/>
        </p:nvSpPr>
        <p:spPr>
          <a:xfrm>
            <a:off x="628650" y="593695"/>
            <a:ext cx="10922000" cy="584775"/>
          </a:xfrm>
          <a:prstGeom prst="rect">
            <a:avLst/>
          </a:prstGeom>
          <a:noFill/>
        </p:spPr>
        <p:txBody>
          <a:bodyPr vert="horz" rtlCol="0">
            <a:spAutoFit/>
          </a:bodyPr>
          <a:lstStyle/>
          <a:p>
            <a:r>
              <a:rPr lang="en-US" sz="3200" b="1" dirty="0">
                <a:solidFill>
                  <a:srgbClr val="002060"/>
                </a:solidFill>
                <a:latin typeface="Arial" panose="020B0604020202020204" pitchFamily="34" charset="0"/>
              </a:rPr>
              <a:t>Clearing the Path to Security</a:t>
            </a:r>
          </a:p>
        </p:txBody>
      </p:sp>
      <p:sp>
        <p:nvSpPr>
          <p:cNvPr id="3" name="TextBox 2">
            <a:extLst>
              <a:ext uri="{FF2B5EF4-FFF2-40B4-BE49-F238E27FC236}">
                <a16:creationId xmlns:a16="http://schemas.microsoft.com/office/drawing/2014/main" id="{69E7E64F-8B9D-26AC-332E-CA25900D6F34}"/>
              </a:ext>
            </a:extLst>
          </p:cNvPr>
          <p:cNvSpPr txBox="1"/>
          <p:nvPr/>
        </p:nvSpPr>
        <p:spPr>
          <a:xfrm>
            <a:off x="635000" y="1079500"/>
            <a:ext cx="10922000" cy="400110"/>
          </a:xfrm>
          <a:prstGeom prst="rect">
            <a:avLst/>
          </a:prstGeom>
          <a:noFill/>
        </p:spPr>
        <p:txBody>
          <a:bodyPr vert="horz" rtlCol="0">
            <a:spAutoFit/>
          </a:bodyPr>
          <a:lstStyle/>
          <a:p>
            <a:r>
              <a:rPr lang="en-US" sz="2000" b="1">
                <a:solidFill>
                  <a:srgbClr val="800080"/>
                </a:solidFill>
                <a:latin typeface="Arial" panose="020B0604020202020204" pitchFamily="34" charset="0"/>
              </a:rPr>
              <a:t>Common Questions and Strategic Clarifications</a:t>
            </a:r>
          </a:p>
        </p:txBody>
      </p:sp>
      <p:sp>
        <p:nvSpPr>
          <p:cNvPr id="4" name="TextBox 3">
            <a:extLst>
              <a:ext uri="{FF2B5EF4-FFF2-40B4-BE49-F238E27FC236}">
                <a16:creationId xmlns:a16="http://schemas.microsoft.com/office/drawing/2014/main" id="{1460F59F-55F7-66B8-284C-D80A486BD654}"/>
              </a:ext>
            </a:extLst>
          </p:cNvPr>
          <p:cNvSpPr txBox="1"/>
          <p:nvPr/>
        </p:nvSpPr>
        <p:spPr>
          <a:xfrm>
            <a:off x="762000" y="2032000"/>
            <a:ext cx="7874000" cy="1215717"/>
          </a:xfrm>
          <a:prstGeom prst="rect">
            <a:avLst/>
          </a:prstGeom>
          <a:noFill/>
        </p:spPr>
        <p:txBody>
          <a:bodyPr vert="horz" rtlCol="0">
            <a:spAutoFit/>
          </a:bodyPr>
          <a:lstStyle/>
          <a:p>
            <a:pPr>
              <a:spcBef>
                <a:spcPts val="1000"/>
              </a:spcBef>
            </a:pPr>
            <a:r>
              <a:rPr lang="en-US" sz="1200">
                <a:solidFill>
                  <a:srgbClr val="000000"/>
                </a:solidFill>
                <a:latin typeface="Calibri" panose="020F0502020204030204" pitchFamily="34" charset="0"/>
              </a:rPr>
              <a:t>• 'Is it safe?' -&gt; Your money is held by a company with </a:t>
            </a:r>
            <a:r>
              <a:rPr lang="en-US" sz="1200" b="1">
                <a:solidFill>
                  <a:srgbClr val="000000"/>
                </a:solidFill>
                <a:latin typeface="Calibri" panose="020F0502020204030204" pitchFamily="34" charset="0"/>
              </a:rPr>
              <a:t>Billions in Reserves</a:t>
            </a:r>
            <a:r>
              <a:rPr lang="en-US" sz="1200">
                <a:solidFill>
                  <a:srgbClr val="000000"/>
                </a:solidFill>
                <a:latin typeface="Calibri" panose="020F0502020204030204" pitchFamily="34" charset="0"/>
              </a:rPr>
              <a:t>.</a:t>
            </a:r>
          </a:p>
          <a:p>
            <a:pPr>
              <a:spcBef>
                <a:spcPts val="1000"/>
              </a:spcBef>
            </a:pPr>
            <a:r>
              <a:rPr lang="en-US" sz="1200">
                <a:solidFill>
                  <a:srgbClr val="000000"/>
                </a:solidFill>
                <a:latin typeface="Calibri" panose="020F0502020204030204" pitchFamily="34" charset="0"/>
              </a:rPr>
              <a:t>• 'Is it flexible?' -&gt; You control the contributions based on your lifestyle.</a:t>
            </a:r>
          </a:p>
          <a:p>
            <a:pPr>
              <a:spcBef>
                <a:spcPts val="1000"/>
              </a:spcBef>
            </a:pPr>
            <a:r>
              <a:rPr lang="en-US" sz="1200">
                <a:solidFill>
                  <a:srgbClr val="000000"/>
                </a:solidFill>
                <a:latin typeface="Calibri" panose="020F0502020204030204" pitchFamily="34" charset="0"/>
              </a:rPr>
              <a:t>• 'Can I access it?' -&gt; Unlike a 401k, you have </a:t>
            </a:r>
            <a:r>
              <a:rPr lang="en-US" sz="1200" b="1">
                <a:solidFill>
                  <a:srgbClr val="000000"/>
                </a:solidFill>
                <a:latin typeface="Calibri" panose="020F0502020204030204" pitchFamily="34" charset="0"/>
              </a:rPr>
              <a:t>Liquidity</a:t>
            </a:r>
            <a:r>
              <a:rPr lang="en-US" sz="1200">
                <a:solidFill>
                  <a:srgbClr val="000000"/>
                </a:solidFill>
                <a:latin typeface="Calibri" panose="020F0502020204030204" pitchFamily="34" charset="0"/>
              </a:rPr>
              <a:t> for major life events.</a:t>
            </a:r>
          </a:p>
          <a:p>
            <a:pPr>
              <a:spcBef>
                <a:spcPts val="1000"/>
              </a:spcBef>
            </a:pPr>
            <a:r>
              <a:rPr lang="en-US" sz="1200">
                <a:solidFill>
                  <a:srgbClr val="000000"/>
                </a:solidFill>
                <a:latin typeface="Calibri" panose="020F0502020204030204" pitchFamily="34" charset="0"/>
              </a:rPr>
              <a:t>• 'Why haven't I heard of this?' -&gt; These strategies were once reserved only for the top 1%.</a:t>
            </a:r>
          </a:p>
        </p:txBody>
      </p:sp>
      <p:sp>
        <p:nvSpPr>
          <p:cNvPr id="7" name="Date Placeholder 6">
            <a:extLst>
              <a:ext uri="{FF2B5EF4-FFF2-40B4-BE49-F238E27FC236}">
                <a16:creationId xmlns:a16="http://schemas.microsoft.com/office/drawing/2014/main" id="{35652DCB-E2A2-A51A-3D89-F31D9DFD9C52}"/>
              </a:ext>
            </a:extLst>
          </p:cNvPr>
          <p:cNvSpPr>
            <a:spLocks noGrp="1"/>
          </p:cNvSpPr>
          <p:nvPr>
            <p:ph type="dt" sz="half" idx="10"/>
          </p:nvPr>
        </p:nvSpPr>
        <p:spPr/>
        <p:txBody>
          <a:bodyPr/>
          <a:lstStyle/>
          <a:p>
            <a:fld id="{B872C252-BB4A-408E-95C5-3527845C87A2}" type="datetime1">
              <a:rPr lang="en-US" smtClean="0"/>
              <a:t>3/31/2026</a:t>
            </a:fld>
            <a:endParaRPr lang="en-US"/>
          </a:p>
        </p:txBody>
      </p:sp>
      <p:sp>
        <p:nvSpPr>
          <p:cNvPr id="9" name="Footer Placeholder 8">
            <a:extLst>
              <a:ext uri="{FF2B5EF4-FFF2-40B4-BE49-F238E27FC236}">
                <a16:creationId xmlns:a16="http://schemas.microsoft.com/office/drawing/2014/main" id="{A0903A64-3AC6-B0E8-27C9-F364CFD0003F}"/>
              </a:ext>
            </a:extLst>
          </p:cNvPr>
          <p:cNvSpPr>
            <a:spLocks noGrp="1"/>
          </p:cNvSpPr>
          <p:nvPr>
            <p:ph type="ftr" sz="quarter" idx="11"/>
          </p:nvPr>
        </p:nvSpPr>
        <p:spPr/>
        <p:txBody>
          <a:bodyPr/>
          <a:lstStyle/>
          <a:p>
            <a:r>
              <a:rPr lang="en-US"/>
              <a:t>Presenter: Sarojini Pokhrel, WFG</a:t>
            </a:r>
          </a:p>
        </p:txBody>
      </p:sp>
      <p:sp>
        <p:nvSpPr>
          <p:cNvPr id="10" name="Slide Number Placeholder 9">
            <a:extLst>
              <a:ext uri="{FF2B5EF4-FFF2-40B4-BE49-F238E27FC236}">
                <a16:creationId xmlns:a16="http://schemas.microsoft.com/office/drawing/2014/main" id="{94637E1F-C377-3608-8712-0786F6F61185}"/>
              </a:ext>
            </a:extLst>
          </p:cNvPr>
          <p:cNvSpPr>
            <a:spLocks noGrp="1"/>
          </p:cNvSpPr>
          <p:nvPr>
            <p:ph type="sldNum" sz="quarter" idx="12"/>
          </p:nvPr>
        </p:nvSpPr>
        <p:spPr/>
        <p:txBody>
          <a:bodyPr/>
          <a:lstStyle/>
          <a:p>
            <a:fld id="{ED87AB4C-FC3A-4E15-BC9A-3395C324A7AE}" type="slidenum">
              <a:rPr lang="en-US" smtClean="0"/>
              <a:t>9</a:t>
            </a:fld>
            <a:endParaRPr lang="en-US"/>
          </a:p>
        </p:txBody>
      </p:sp>
      <p:sp>
        <p:nvSpPr>
          <p:cNvPr id="11" name="Cylinder 10">
            <a:hlinkClick r:id="" action="ppaction://hlinkshowjump?jump=firstslide"/>
            <a:extLst>
              <a:ext uri="{FF2B5EF4-FFF2-40B4-BE49-F238E27FC236}">
                <a16:creationId xmlns:a16="http://schemas.microsoft.com/office/drawing/2014/main" id="{CDFE3CFE-54EB-58B1-5318-C2771ED8517A}"/>
              </a:ext>
            </a:extLst>
          </p:cNvPr>
          <p:cNvSpPr/>
          <p:nvPr/>
        </p:nvSpPr>
        <p:spPr>
          <a:xfrm>
            <a:off x="895350"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t>BACK</a:t>
            </a:r>
          </a:p>
        </p:txBody>
      </p:sp>
      <p:sp>
        <p:nvSpPr>
          <p:cNvPr id="12" name="Cylinder 11">
            <a:hlinkClick r:id="" action="ppaction://hlinkshowjump?jump=nextslide"/>
            <a:extLst>
              <a:ext uri="{FF2B5EF4-FFF2-40B4-BE49-F238E27FC236}">
                <a16:creationId xmlns:a16="http://schemas.microsoft.com/office/drawing/2014/main" id="{95C413D4-EBC4-3E41-EF84-613237D97215}"/>
              </a:ext>
            </a:extLst>
          </p:cNvPr>
          <p:cNvSpPr/>
          <p:nvPr/>
        </p:nvSpPr>
        <p:spPr>
          <a:xfrm>
            <a:off x="7681433"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a:t>
            </a:r>
          </a:p>
        </p:txBody>
      </p:sp>
      <p:pic>
        <p:nvPicPr>
          <p:cNvPr id="5" name="Picture 4">
            <a:extLst>
              <a:ext uri="{FF2B5EF4-FFF2-40B4-BE49-F238E27FC236}">
                <a16:creationId xmlns:a16="http://schemas.microsoft.com/office/drawing/2014/main" id="{4B869A3E-5598-7B20-85BD-FE2E6B20E4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47303" cy="698202"/>
          </a:xfrm>
          <a:prstGeom prst="rect">
            <a:avLst/>
          </a:prstGeom>
        </p:spPr>
      </p:pic>
      <p:pic>
        <p:nvPicPr>
          <p:cNvPr id="8" name="Picture 7">
            <a:extLst>
              <a:ext uri="{FF2B5EF4-FFF2-40B4-BE49-F238E27FC236}">
                <a16:creationId xmlns:a16="http://schemas.microsoft.com/office/drawing/2014/main" id="{4188CA1C-2A2C-A75F-09FA-A0A19AC640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3903" y="1479610"/>
            <a:ext cx="2319530" cy="1546353"/>
          </a:xfrm>
          <a:prstGeom prst="rect">
            <a:avLst/>
          </a:prstGeom>
        </p:spPr>
      </p:pic>
    </p:spTree>
    <p:extLst>
      <p:ext uri="{BB962C8B-B14F-4D97-AF65-F5344CB8AC3E}">
        <p14:creationId xmlns:p14="http://schemas.microsoft.com/office/powerpoint/2010/main" val="2015270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221F25-AB1D-AC9F-20A9-79C4D6254461}"/>
              </a:ext>
            </a:extLst>
          </p:cNvPr>
          <p:cNvSpPr txBox="1"/>
          <p:nvPr/>
        </p:nvSpPr>
        <p:spPr>
          <a:xfrm>
            <a:off x="523651" y="568514"/>
            <a:ext cx="10922000" cy="584775"/>
          </a:xfrm>
          <a:prstGeom prst="rect">
            <a:avLst/>
          </a:prstGeom>
          <a:noFill/>
        </p:spPr>
        <p:txBody>
          <a:bodyPr vert="horz" rtlCol="0">
            <a:spAutoFit/>
          </a:bodyPr>
          <a:lstStyle/>
          <a:p>
            <a:r>
              <a:rPr lang="en-US" sz="3200" b="1" dirty="0">
                <a:solidFill>
                  <a:srgbClr val="002060"/>
                </a:solidFill>
                <a:latin typeface="Arial" panose="020B0604020202020204" pitchFamily="34" charset="0"/>
              </a:rPr>
              <a:t>The High Cost of Waiting</a:t>
            </a:r>
          </a:p>
        </p:txBody>
      </p:sp>
      <p:sp>
        <p:nvSpPr>
          <p:cNvPr id="3" name="TextBox 2">
            <a:extLst>
              <a:ext uri="{FF2B5EF4-FFF2-40B4-BE49-F238E27FC236}">
                <a16:creationId xmlns:a16="http://schemas.microsoft.com/office/drawing/2014/main" id="{C190E6A1-56F8-1D42-9D2F-433DB5859E81}"/>
              </a:ext>
            </a:extLst>
          </p:cNvPr>
          <p:cNvSpPr txBox="1"/>
          <p:nvPr/>
        </p:nvSpPr>
        <p:spPr>
          <a:xfrm>
            <a:off x="635000" y="1079500"/>
            <a:ext cx="10922000" cy="400110"/>
          </a:xfrm>
          <a:prstGeom prst="rect">
            <a:avLst/>
          </a:prstGeom>
          <a:noFill/>
        </p:spPr>
        <p:txBody>
          <a:bodyPr vert="horz" rtlCol="0">
            <a:spAutoFit/>
          </a:bodyPr>
          <a:lstStyle/>
          <a:p>
            <a:r>
              <a:rPr lang="en-US" sz="2000" b="1">
                <a:solidFill>
                  <a:srgbClr val="800080"/>
                </a:solidFill>
                <a:latin typeface="Arial" panose="020B0604020202020204" pitchFamily="34" charset="0"/>
              </a:rPr>
              <a:t>Why Taking a 'Step Back' is a Financial Risk</a:t>
            </a:r>
          </a:p>
        </p:txBody>
      </p:sp>
      <p:sp>
        <p:nvSpPr>
          <p:cNvPr id="4" name="TextBox 3">
            <a:extLst>
              <a:ext uri="{FF2B5EF4-FFF2-40B4-BE49-F238E27FC236}">
                <a16:creationId xmlns:a16="http://schemas.microsoft.com/office/drawing/2014/main" id="{CA74152E-6963-A596-B25B-BE9FBC99309F}"/>
              </a:ext>
            </a:extLst>
          </p:cNvPr>
          <p:cNvSpPr txBox="1"/>
          <p:nvPr/>
        </p:nvSpPr>
        <p:spPr>
          <a:xfrm>
            <a:off x="762000" y="2032000"/>
            <a:ext cx="7874000" cy="1215717"/>
          </a:xfrm>
          <a:prstGeom prst="rect">
            <a:avLst/>
          </a:prstGeom>
          <a:noFill/>
        </p:spPr>
        <p:txBody>
          <a:bodyPr vert="horz" rtlCol="0">
            <a:spAutoFit/>
          </a:bodyPr>
          <a:lstStyle/>
          <a:p>
            <a:pPr>
              <a:spcBef>
                <a:spcPts val="1000"/>
              </a:spcBef>
            </a:pPr>
            <a:r>
              <a:rPr lang="en-US" sz="1200">
                <a:solidFill>
                  <a:srgbClr val="000000"/>
                </a:solidFill>
                <a:latin typeface="Calibri" panose="020F0502020204030204" pitchFamily="34" charset="0"/>
              </a:rPr>
              <a:t>• The </a:t>
            </a:r>
            <a:r>
              <a:rPr lang="en-US" sz="1200" b="1">
                <a:solidFill>
                  <a:srgbClr val="000000"/>
                </a:solidFill>
                <a:latin typeface="Calibri" panose="020F0502020204030204" pitchFamily="34" charset="0"/>
              </a:rPr>
              <a:t>Age Penalty</a:t>
            </a:r>
            <a:r>
              <a:rPr lang="en-US" sz="1200">
                <a:solidFill>
                  <a:srgbClr val="000000"/>
                </a:solidFill>
                <a:latin typeface="Calibri" panose="020F0502020204030204" pitchFamily="34" charset="0"/>
              </a:rPr>
              <a:t>: Every birthday makes the strategy more expensive for life.</a:t>
            </a:r>
          </a:p>
          <a:p>
            <a:pPr>
              <a:spcBef>
                <a:spcPts val="1000"/>
              </a:spcBef>
            </a:pPr>
            <a:r>
              <a:rPr lang="en-US" sz="1200">
                <a:solidFill>
                  <a:srgbClr val="000000"/>
                </a:solidFill>
                <a:latin typeface="Calibri" panose="020F0502020204030204" pitchFamily="34" charset="0"/>
              </a:rPr>
              <a:t>• The </a:t>
            </a:r>
            <a:r>
              <a:rPr lang="en-US" sz="1200" b="1">
                <a:solidFill>
                  <a:srgbClr val="000000"/>
                </a:solidFill>
                <a:latin typeface="Calibri" panose="020F0502020204030204" pitchFamily="34" charset="0"/>
              </a:rPr>
              <a:t>Health Risk</a:t>
            </a:r>
            <a:r>
              <a:rPr lang="en-US" sz="1200">
                <a:solidFill>
                  <a:srgbClr val="000000"/>
                </a:solidFill>
                <a:latin typeface="Calibri" panose="020F0502020204030204" pitchFamily="34" charset="0"/>
              </a:rPr>
              <a:t>: You buy insurance with your Health; money is only the payment.</a:t>
            </a:r>
          </a:p>
          <a:p>
            <a:pPr>
              <a:spcBef>
                <a:spcPts val="1000"/>
              </a:spcBef>
            </a:pPr>
            <a:r>
              <a:rPr lang="en-US" sz="1200">
                <a:solidFill>
                  <a:srgbClr val="000000"/>
                </a:solidFill>
                <a:latin typeface="Calibri" panose="020F0502020204030204" pitchFamily="34" charset="0"/>
              </a:rPr>
              <a:t>• Lost Compounding: Every year you wait is a year of </a:t>
            </a:r>
            <a:r>
              <a:rPr lang="en-US" sz="1200" b="1">
                <a:solidFill>
                  <a:srgbClr val="000000"/>
                </a:solidFill>
                <a:latin typeface="Calibri" panose="020F0502020204030204" pitchFamily="34" charset="0"/>
              </a:rPr>
              <a:t>tax-free growth</a:t>
            </a:r>
            <a:r>
              <a:rPr lang="en-US" sz="1200">
                <a:solidFill>
                  <a:srgbClr val="000000"/>
                </a:solidFill>
                <a:latin typeface="Calibri" panose="020F0502020204030204" pitchFamily="34" charset="0"/>
              </a:rPr>
              <a:t> you'll never get back.</a:t>
            </a:r>
          </a:p>
          <a:p>
            <a:pPr>
              <a:spcBef>
                <a:spcPts val="1000"/>
              </a:spcBef>
            </a:pPr>
            <a:r>
              <a:rPr lang="en-US" sz="1200">
                <a:solidFill>
                  <a:srgbClr val="000000"/>
                </a:solidFill>
                <a:latin typeface="Calibri" panose="020F0502020204030204" pitchFamily="34" charset="0"/>
              </a:rPr>
              <a:t>• Exposure: Leaving your family's future to chance for one more day.</a:t>
            </a:r>
          </a:p>
        </p:txBody>
      </p:sp>
      <p:sp>
        <p:nvSpPr>
          <p:cNvPr id="7" name="Date Placeholder 6">
            <a:extLst>
              <a:ext uri="{FF2B5EF4-FFF2-40B4-BE49-F238E27FC236}">
                <a16:creationId xmlns:a16="http://schemas.microsoft.com/office/drawing/2014/main" id="{41DD9949-00E9-D5C8-5F5E-B769C3E38553}"/>
              </a:ext>
            </a:extLst>
          </p:cNvPr>
          <p:cNvSpPr>
            <a:spLocks noGrp="1"/>
          </p:cNvSpPr>
          <p:nvPr>
            <p:ph type="dt" sz="half" idx="10"/>
          </p:nvPr>
        </p:nvSpPr>
        <p:spPr/>
        <p:txBody>
          <a:bodyPr/>
          <a:lstStyle/>
          <a:p>
            <a:fld id="{E05D2551-7D8C-4CB5-B468-48BB1E655D77}" type="datetime1">
              <a:rPr lang="en-US" smtClean="0"/>
              <a:t>3/31/2026</a:t>
            </a:fld>
            <a:endParaRPr lang="en-US"/>
          </a:p>
        </p:txBody>
      </p:sp>
      <p:sp>
        <p:nvSpPr>
          <p:cNvPr id="9" name="Footer Placeholder 8">
            <a:extLst>
              <a:ext uri="{FF2B5EF4-FFF2-40B4-BE49-F238E27FC236}">
                <a16:creationId xmlns:a16="http://schemas.microsoft.com/office/drawing/2014/main" id="{8512CA3E-D032-0CB1-BC89-24642EECB6D4}"/>
              </a:ext>
            </a:extLst>
          </p:cNvPr>
          <p:cNvSpPr>
            <a:spLocks noGrp="1"/>
          </p:cNvSpPr>
          <p:nvPr>
            <p:ph type="ftr" sz="quarter" idx="11"/>
          </p:nvPr>
        </p:nvSpPr>
        <p:spPr/>
        <p:txBody>
          <a:bodyPr/>
          <a:lstStyle/>
          <a:p>
            <a:r>
              <a:rPr lang="en-US"/>
              <a:t>Presenter: Sarojini Pokhrel, WFG</a:t>
            </a:r>
          </a:p>
        </p:txBody>
      </p:sp>
      <p:sp>
        <p:nvSpPr>
          <p:cNvPr id="10" name="Slide Number Placeholder 9">
            <a:extLst>
              <a:ext uri="{FF2B5EF4-FFF2-40B4-BE49-F238E27FC236}">
                <a16:creationId xmlns:a16="http://schemas.microsoft.com/office/drawing/2014/main" id="{42BCBD73-0EC8-868E-3B57-EADED82CC301}"/>
              </a:ext>
            </a:extLst>
          </p:cNvPr>
          <p:cNvSpPr>
            <a:spLocks noGrp="1"/>
          </p:cNvSpPr>
          <p:nvPr>
            <p:ph type="sldNum" sz="quarter" idx="12"/>
          </p:nvPr>
        </p:nvSpPr>
        <p:spPr/>
        <p:txBody>
          <a:bodyPr/>
          <a:lstStyle/>
          <a:p>
            <a:fld id="{ED87AB4C-FC3A-4E15-BC9A-3395C324A7AE}" type="slidenum">
              <a:rPr lang="en-US" smtClean="0"/>
              <a:t>10</a:t>
            </a:fld>
            <a:endParaRPr lang="en-US"/>
          </a:p>
        </p:txBody>
      </p:sp>
      <p:sp>
        <p:nvSpPr>
          <p:cNvPr id="11" name="Cylinder 10">
            <a:hlinkClick r:id="" action="ppaction://hlinkshowjump?jump=firstslide"/>
            <a:extLst>
              <a:ext uri="{FF2B5EF4-FFF2-40B4-BE49-F238E27FC236}">
                <a16:creationId xmlns:a16="http://schemas.microsoft.com/office/drawing/2014/main" id="{61D8E308-777E-3522-2D9F-55501B4612AF}"/>
              </a:ext>
            </a:extLst>
          </p:cNvPr>
          <p:cNvSpPr/>
          <p:nvPr/>
        </p:nvSpPr>
        <p:spPr>
          <a:xfrm>
            <a:off x="895350"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t>BACK</a:t>
            </a:r>
          </a:p>
        </p:txBody>
      </p:sp>
      <p:sp>
        <p:nvSpPr>
          <p:cNvPr id="12" name="Cylinder 11">
            <a:hlinkClick r:id="" action="ppaction://hlinkshowjump?jump=nextslide"/>
            <a:extLst>
              <a:ext uri="{FF2B5EF4-FFF2-40B4-BE49-F238E27FC236}">
                <a16:creationId xmlns:a16="http://schemas.microsoft.com/office/drawing/2014/main" id="{9B3BC2B4-34FA-2671-0C41-04EEE0A054AA}"/>
              </a:ext>
            </a:extLst>
          </p:cNvPr>
          <p:cNvSpPr/>
          <p:nvPr/>
        </p:nvSpPr>
        <p:spPr>
          <a:xfrm>
            <a:off x="7681433"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a:t>
            </a:r>
          </a:p>
        </p:txBody>
      </p:sp>
      <p:pic>
        <p:nvPicPr>
          <p:cNvPr id="5" name="Picture 4">
            <a:extLst>
              <a:ext uri="{FF2B5EF4-FFF2-40B4-BE49-F238E27FC236}">
                <a16:creationId xmlns:a16="http://schemas.microsoft.com/office/drawing/2014/main" id="{2FFF04BF-030D-FA5D-E367-E0340B2575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47303" cy="698202"/>
          </a:xfrm>
          <a:prstGeom prst="rect">
            <a:avLst/>
          </a:prstGeom>
        </p:spPr>
      </p:pic>
      <p:pic>
        <p:nvPicPr>
          <p:cNvPr id="8" name="Picture 7">
            <a:extLst>
              <a:ext uri="{FF2B5EF4-FFF2-40B4-BE49-F238E27FC236}">
                <a16:creationId xmlns:a16="http://schemas.microsoft.com/office/drawing/2014/main" id="{3513FA3F-AF9F-6DE1-7098-ACE210F6BC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9786" y="3013786"/>
            <a:ext cx="2418443" cy="1689887"/>
          </a:xfrm>
          <a:prstGeom prst="rect">
            <a:avLst/>
          </a:prstGeom>
        </p:spPr>
      </p:pic>
    </p:spTree>
    <p:extLst>
      <p:ext uri="{BB962C8B-B14F-4D97-AF65-F5344CB8AC3E}">
        <p14:creationId xmlns:p14="http://schemas.microsoft.com/office/powerpoint/2010/main" val="4264261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BD0DA04-8999-1CFA-A503-AF3FA48DC3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4486" y="1451868"/>
            <a:ext cx="3041810" cy="2156327"/>
          </a:xfrm>
          <a:prstGeom prst="rect">
            <a:avLst/>
          </a:prstGeom>
        </p:spPr>
      </p:pic>
      <p:sp>
        <p:nvSpPr>
          <p:cNvPr id="2" name="TextBox 1">
            <a:extLst>
              <a:ext uri="{FF2B5EF4-FFF2-40B4-BE49-F238E27FC236}">
                <a16:creationId xmlns:a16="http://schemas.microsoft.com/office/drawing/2014/main" id="{E5292BF7-EB47-CF7A-D91B-B3AB47C51E3F}"/>
              </a:ext>
            </a:extLst>
          </p:cNvPr>
          <p:cNvSpPr txBox="1"/>
          <p:nvPr/>
        </p:nvSpPr>
        <p:spPr>
          <a:xfrm>
            <a:off x="628650" y="580812"/>
            <a:ext cx="10922000" cy="584775"/>
          </a:xfrm>
          <a:prstGeom prst="rect">
            <a:avLst/>
          </a:prstGeom>
          <a:noFill/>
        </p:spPr>
        <p:txBody>
          <a:bodyPr vert="horz" rtlCol="0">
            <a:spAutoFit/>
          </a:bodyPr>
          <a:lstStyle/>
          <a:p>
            <a:r>
              <a:rPr lang="en-US" sz="3200" b="1" dirty="0">
                <a:solidFill>
                  <a:srgbClr val="002060"/>
                </a:solidFill>
                <a:latin typeface="Arial" panose="020B0604020202020204" pitchFamily="34" charset="0"/>
              </a:rPr>
              <a:t>Your Path to Peace of Mind</a:t>
            </a:r>
          </a:p>
        </p:txBody>
      </p:sp>
      <p:sp>
        <p:nvSpPr>
          <p:cNvPr id="3" name="TextBox 2">
            <a:extLst>
              <a:ext uri="{FF2B5EF4-FFF2-40B4-BE49-F238E27FC236}">
                <a16:creationId xmlns:a16="http://schemas.microsoft.com/office/drawing/2014/main" id="{96945AFD-D01C-9ED6-35E4-68E070E72D76}"/>
              </a:ext>
            </a:extLst>
          </p:cNvPr>
          <p:cNvSpPr txBox="1"/>
          <p:nvPr/>
        </p:nvSpPr>
        <p:spPr>
          <a:xfrm>
            <a:off x="635000" y="1079500"/>
            <a:ext cx="10922000" cy="400110"/>
          </a:xfrm>
          <a:prstGeom prst="rect">
            <a:avLst/>
          </a:prstGeom>
          <a:noFill/>
        </p:spPr>
        <p:txBody>
          <a:bodyPr vert="horz" rtlCol="0">
            <a:spAutoFit/>
          </a:bodyPr>
          <a:lstStyle/>
          <a:p>
            <a:r>
              <a:rPr lang="en-US" sz="2000" b="1">
                <a:solidFill>
                  <a:srgbClr val="800080"/>
                </a:solidFill>
                <a:latin typeface="Arial" panose="020B0604020202020204" pitchFamily="34" charset="0"/>
              </a:rPr>
              <a:t>Simple Integration and Eligibility Check</a:t>
            </a:r>
          </a:p>
        </p:txBody>
      </p:sp>
      <p:sp>
        <p:nvSpPr>
          <p:cNvPr id="4" name="TextBox 3">
            <a:extLst>
              <a:ext uri="{FF2B5EF4-FFF2-40B4-BE49-F238E27FC236}">
                <a16:creationId xmlns:a16="http://schemas.microsoft.com/office/drawing/2014/main" id="{2B874396-C4F2-9085-A139-A37AB1541BA8}"/>
              </a:ext>
            </a:extLst>
          </p:cNvPr>
          <p:cNvSpPr txBox="1"/>
          <p:nvPr/>
        </p:nvSpPr>
        <p:spPr>
          <a:xfrm>
            <a:off x="762000" y="2032000"/>
            <a:ext cx="7874000" cy="1215717"/>
          </a:xfrm>
          <a:prstGeom prst="rect">
            <a:avLst/>
          </a:prstGeom>
          <a:noFill/>
        </p:spPr>
        <p:txBody>
          <a:bodyPr vert="horz" rtlCol="0">
            <a:spAutoFit/>
          </a:bodyPr>
          <a:lstStyle/>
          <a:p>
            <a:pPr>
              <a:spcBef>
                <a:spcPts val="1000"/>
              </a:spcBef>
            </a:pPr>
            <a:r>
              <a:rPr lang="en-US" sz="1200" dirty="0">
                <a:solidFill>
                  <a:srgbClr val="000000"/>
                </a:solidFill>
                <a:latin typeface="Calibri" panose="020F0502020204030204" pitchFamily="34" charset="0"/>
              </a:rPr>
              <a:t>• Step 1: Financial Needs Analysis (FNA) to customize your plan.</a:t>
            </a:r>
          </a:p>
          <a:p>
            <a:pPr>
              <a:spcBef>
                <a:spcPts val="1000"/>
              </a:spcBef>
            </a:pPr>
            <a:r>
              <a:rPr lang="en-US" sz="1200" dirty="0">
                <a:solidFill>
                  <a:srgbClr val="000000"/>
                </a:solidFill>
                <a:latin typeface="Calibri" panose="020F0502020204030204" pitchFamily="34" charset="0"/>
              </a:rPr>
              <a:t>• Step 2: Immediate </a:t>
            </a:r>
            <a:r>
              <a:rPr lang="en-US" sz="1200" b="1" dirty="0">
                <a:solidFill>
                  <a:srgbClr val="000000"/>
                </a:solidFill>
                <a:latin typeface="Calibri" panose="020F0502020204030204" pitchFamily="34" charset="0"/>
              </a:rPr>
              <a:t>Eligibility Check</a:t>
            </a:r>
            <a:r>
              <a:rPr lang="en-US" sz="1200" dirty="0">
                <a:solidFill>
                  <a:srgbClr val="000000"/>
                </a:solidFill>
                <a:latin typeface="Calibri" panose="020F0502020204030204" pitchFamily="34" charset="0"/>
              </a:rPr>
              <a:t> to verify your qualification.</a:t>
            </a:r>
          </a:p>
          <a:p>
            <a:pPr>
              <a:spcBef>
                <a:spcPts val="1000"/>
              </a:spcBef>
            </a:pPr>
            <a:r>
              <a:rPr lang="en-US" sz="1200" dirty="0">
                <a:solidFill>
                  <a:srgbClr val="000000"/>
                </a:solidFill>
                <a:latin typeface="Calibri" panose="020F0502020204030204" pitchFamily="34" charset="0"/>
              </a:rPr>
              <a:t>• Step 3: Digital Application (eSig) to lock in your current age and rate.</a:t>
            </a:r>
          </a:p>
          <a:p>
            <a:pPr>
              <a:spcBef>
                <a:spcPts val="1000"/>
              </a:spcBef>
            </a:pPr>
            <a:r>
              <a:rPr lang="en-US" sz="1200" dirty="0">
                <a:solidFill>
                  <a:srgbClr val="000000"/>
                </a:solidFill>
                <a:latin typeface="Calibri" panose="020F0502020204030204" pitchFamily="34" charset="0"/>
              </a:rPr>
              <a:t>• Step 4: </a:t>
            </a:r>
            <a:r>
              <a:rPr lang="en-US" sz="1200" b="1" dirty="0">
                <a:solidFill>
                  <a:srgbClr val="000000"/>
                </a:solidFill>
                <a:latin typeface="Calibri" panose="020F0502020204030204" pitchFamily="34" charset="0"/>
              </a:rPr>
              <a:t>Peace of Mind</a:t>
            </a:r>
            <a:r>
              <a:rPr lang="en-US" sz="1200" dirty="0">
                <a:solidFill>
                  <a:srgbClr val="000000"/>
                </a:solidFill>
                <a:latin typeface="Calibri" panose="020F0502020204030204" pitchFamily="34" charset="0"/>
              </a:rPr>
              <a:t> for you and your family starting today.</a:t>
            </a:r>
          </a:p>
        </p:txBody>
      </p:sp>
      <p:sp>
        <p:nvSpPr>
          <p:cNvPr id="6" name="Date Placeholder 5">
            <a:extLst>
              <a:ext uri="{FF2B5EF4-FFF2-40B4-BE49-F238E27FC236}">
                <a16:creationId xmlns:a16="http://schemas.microsoft.com/office/drawing/2014/main" id="{AFBF541E-B14D-EB2F-B54A-82002B1B06E2}"/>
              </a:ext>
            </a:extLst>
          </p:cNvPr>
          <p:cNvSpPr>
            <a:spLocks noGrp="1"/>
          </p:cNvSpPr>
          <p:nvPr>
            <p:ph type="dt" sz="half" idx="10"/>
          </p:nvPr>
        </p:nvSpPr>
        <p:spPr/>
        <p:txBody>
          <a:bodyPr/>
          <a:lstStyle/>
          <a:p>
            <a:fld id="{671203A1-8601-4DD7-A3B9-52D4625C53FD}" type="datetime1">
              <a:rPr lang="en-US" smtClean="0"/>
              <a:t>3/31/2026</a:t>
            </a:fld>
            <a:endParaRPr lang="en-US"/>
          </a:p>
        </p:txBody>
      </p:sp>
      <p:sp>
        <p:nvSpPr>
          <p:cNvPr id="9" name="TextBox 8">
            <a:extLst>
              <a:ext uri="{FF2B5EF4-FFF2-40B4-BE49-F238E27FC236}">
                <a16:creationId xmlns:a16="http://schemas.microsoft.com/office/drawing/2014/main" id="{50366213-E85F-2AED-153B-B22E7645E3A7}"/>
              </a:ext>
            </a:extLst>
          </p:cNvPr>
          <p:cNvSpPr txBox="1"/>
          <p:nvPr/>
        </p:nvSpPr>
        <p:spPr>
          <a:xfrm>
            <a:off x="762000" y="3728812"/>
            <a:ext cx="6881813" cy="276999"/>
          </a:xfrm>
          <a:prstGeom prst="rect">
            <a:avLst/>
          </a:prstGeom>
          <a:noFill/>
        </p:spPr>
        <p:txBody>
          <a:bodyPr wrap="square">
            <a:spAutoFit/>
          </a:bodyPr>
          <a:lstStyle/>
          <a:p>
            <a:r>
              <a:rPr lang="en-US" sz="1200" dirty="0">
                <a:solidFill>
                  <a:schemeClr val="accent3">
                    <a:lumMod val="60000"/>
                    <a:lumOff val="40000"/>
                  </a:schemeClr>
                </a:solidFill>
                <a:latin typeface="Calibri" panose="020F0502020204030204" pitchFamily="34" charset="0"/>
                <a:ea typeface="Calibri" panose="020F0502020204030204" pitchFamily="34" charset="0"/>
                <a:cs typeface="Calibri" panose="020F0502020204030204" pitchFamily="34" charset="0"/>
              </a:rPr>
              <a:t>“The Simple Way to Stay Free for Generations is to Start Your Family Journey Today.“ – Upendra Rimal</a:t>
            </a:r>
            <a:endParaRPr lang="en-US" sz="1200" i="1" dirty="0">
              <a:solidFill>
                <a:schemeClr val="accent3">
                  <a:lumMod val="60000"/>
                  <a:lumOff val="4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Footer Placeholder 9">
            <a:extLst>
              <a:ext uri="{FF2B5EF4-FFF2-40B4-BE49-F238E27FC236}">
                <a16:creationId xmlns:a16="http://schemas.microsoft.com/office/drawing/2014/main" id="{FFDBBE29-5DB0-AA4F-443F-5819056C5DD7}"/>
              </a:ext>
            </a:extLst>
          </p:cNvPr>
          <p:cNvSpPr>
            <a:spLocks noGrp="1"/>
          </p:cNvSpPr>
          <p:nvPr>
            <p:ph type="ftr" sz="quarter" idx="11"/>
          </p:nvPr>
        </p:nvSpPr>
        <p:spPr/>
        <p:txBody>
          <a:bodyPr/>
          <a:lstStyle/>
          <a:p>
            <a:r>
              <a:rPr lang="en-US" dirty="0"/>
              <a:t>Presenter: Sarojini Pokhrel, WFG</a:t>
            </a:r>
          </a:p>
        </p:txBody>
      </p:sp>
      <p:sp>
        <p:nvSpPr>
          <p:cNvPr id="11" name="Slide Number Placeholder 10">
            <a:extLst>
              <a:ext uri="{FF2B5EF4-FFF2-40B4-BE49-F238E27FC236}">
                <a16:creationId xmlns:a16="http://schemas.microsoft.com/office/drawing/2014/main" id="{DC19BE4D-5B3A-B64C-C32A-E581712A6D61}"/>
              </a:ext>
            </a:extLst>
          </p:cNvPr>
          <p:cNvSpPr>
            <a:spLocks noGrp="1"/>
          </p:cNvSpPr>
          <p:nvPr>
            <p:ph type="sldNum" sz="quarter" idx="12"/>
          </p:nvPr>
        </p:nvSpPr>
        <p:spPr/>
        <p:txBody>
          <a:bodyPr/>
          <a:lstStyle/>
          <a:p>
            <a:fld id="{ED87AB4C-FC3A-4E15-BC9A-3395C324A7AE}" type="slidenum">
              <a:rPr lang="en-US" smtClean="0"/>
              <a:t>11</a:t>
            </a:fld>
            <a:endParaRPr lang="en-US"/>
          </a:p>
        </p:txBody>
      </p:sp>
      <p:sp>
        <p:nvSpPr>
          <p:cNvPr id="12" name="Cylinder 11">
            <a:hlinkClick r:id="" action="ppaction://hlinkshowjump?jump=firstslide"/>
            <a:extLst>
              <a:ext uri="{FF2B5EF4-FFF2-40B4-BE49-F238E27FC236}">
                <a16:creationId xmlns:a16="http://schemas.microsoft.com/office/drawing/2014/main" id="{4C1B6F59-E8CE-BFDD-99EA-BF4F79FC7C37}"/>
              </a:ext>
            </a:extLst>
          </p:cNvPr>
          <p:cNvSpPr/>
          <p:nvPr/>
        </p:nvSpPr>
        <p:spPr>
          <a:xfrm>
            <a:off x="895350" y="4126428"/>
            <a:ext cx="762000" cy="254000"/>
          </a:xfrm>
          <a:prstGeom prst="ca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t>BACK</a:t>
            </a:r>
          </a:p>
        </p:txBody>
      </p:sp>
      <p:pic>
        <p:nvPicPr>
          <p:cNvPr id="5" name="Picture 4">
            <a:extLst>
              <a:ext uri="{FF2B5EF4-FFF2-40B4-BE49-F238E27FC236}">
                <a16:creationId xmlns:a16="http://schemas.microsoft.com/office/drawing/2014/main" id="{A05C937E-5F37-02FB-DDF3-FFC1438FB0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047303" cy="698202"/>
          </a:xfrm>
          <a:prstGeom prst="rect">
            <a:avLst/>
          </a:prstGeom>
        </p:spPr>
      </p:pic>
    </p:spTree>
    <p:extLst>
      <p:ext uri="{BB962C8B-B14F-4D97-AF65-F5344CB8AC3E}">
        <p14:creationId xmlns:p14="http://schemas.microsoft.com/office/powerpoint/2010/main" val="9094811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Metadata/LabelInfo.xml><?xml version="1.0" encoding="utf-8"?>
<clbl:labelList xmlns:clbl="http://schemas.microsoft.com/office/2020/mipLabelMetadata">
  <clbl:label id="{ce2042b6-8dd7-4887-a2c3-57e35459e6f5}" enabled="1" method="Privileged" siteId="{69ce8198-0346-4196-b83f-1ae289c868d4}" contentBits="0" removed="0"/>
</clbl:labelList>
</file>

<file path=docProps/app.xml><?xml version="1.0" encoding="utf-8"?>
<Properties xmlns="http://schemas.openxmlformats.org/officeDocument/2006/extended-properties" xmlns:vt="http://schemas.openxmlformats.org/officeDocument/2006/docPropsVTypes">
  <Template/>
  <TotalTime>269</TotalTime>
  <Words>1411</Words>
  <Application>Microsoft Office PowerPoint</Application>
  <PresentationFormat>On-screen Show (16:9)</PresentationFormat>
  <Paragraphs>129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Upendra Rimal (C)</dc:creator>
  <cp:lastModifiedBy>Upendra Rimal (C)</cp:lastModifiedBy>
  <cp:revision>41</cp:revision>
  <dcterms:created xsi:type="dcterms:W3CDTF">2026-03-30T18:21:40Z</dcterms:created>
  <dcterms:modified xsi:type="dcterms:W3CDTF">2026-03-31T16:09:01Z</dcterms:modified>
</cp:coreProperties>
</file>